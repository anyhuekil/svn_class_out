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15" r:id="rId2"/>
    <p:sldId id="318" r:id="rId3"/>
    <p:sldId id="258" r:id="rId4"/>
    <p:sldId id="320" r:id="rId5"/>
    <p:sldId id="321" r:id="rId6"/>
    <p:sldId id="322" r:id="rId7"/>
  </p:sldIdLst>
  <p:sldSz cx="9144000" cy="6858000" type="screen4x3"/>
  <p:notesSz cx="6858000" cy="9144000"/>
  <p:embeddedFontLst>
    <p:embeddedFont>
      <p:font typeface="맑은 고딕" panose="020B0503020000020004" pitchFamily="50" charset="-127"/>
      <p:regular r:id="rId10"/>
      <p:bold r:id="rId11"/>
    </p:embeddedFont>
    <p:embeddedFont>
      <p:font typeface="HY헤드라인M" panose="02030600000101010101" pitchFamily="18" charset="-127"/>
      <p:regular r:id="rId12"/>
    </p:embeddedFont>
    <p:embeddedFont>
      <p:font typeface="한컴 윤고딕 250" panose="020B0600000101010101" charset="-127"/>
      <p:regular r:id="rId13"/>
    </p:embeddedFont>
    <p:embeddedFont>
      <p:font typeface="나눔바른고딕" panose="020B0600000101010101" charset="-127"/>
      <p:regular r:id="rId14"/>
      <p:bold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AD0D4FB-1C4A-44C7-A654-A40E223DE746}">
          <p14:sldIdLst>
            <p14:sldId id="315"/>
            <p14:sldId id="318"/>
            <p14:sldId id="258"/>
            <p14:sldId id="320"/>
            <p14:sldId id="321"/>
            <p14:sldId id="3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E9"/>
    <a:srgbClr val="E6B9B8"/>
    <a:srgbClr val="E8D0D0"/>
    <a:srgbClr val="820000"/>
    <a:srgbClr val="D99694"/>
    <a:srgbClr val="97CD39"/>
    <a:srgbClr val="262626"/>
    <a:srgbClr val="F3B169"/>
    <a:srgbClr val="314508"/>
    <a:srgbClr val="1501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67" autoAdjust="0"/>
    <p:restoredTop sz="94660"/>
  </p:normalViewPr>
  <p:slideViewPr>
    <p:cSldViewPr>
      <p:cViewPr varScale="1">
        <p:scale>
          <a:sx n="109" d="100"/>
          <a:sy n="109" d="100"/>
        </p:scale>
        <p:origin x="105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29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5C3AB-E59B-47BD-A9F8-288A0770AD22}" type="datetimeFigureOut">
              <a:rPr lang="ko-KR" altLang="en-US" smtClean="0"/>
              <a:t>2017-04-07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278F1-2B4A-4FA0-AD67-B27555D64A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03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DB4F7-5607-4CE6-B1E0-4EE3F49778F2}" type="datetimeFigureOut">
              <a:rPr lang="ko-KR" altLang="en-US" smtClean="0"/>
              <a:t>2017-04-07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F51C9-A486-45FC-B02A-D06FB8F416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607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1B77A4-EBE9-4B89-98ED-9276C3046A7E}" type="datetime1">
              <a:rPr lang="ko-KR" altLang="en-US" smtClean="0"/>
              <a:pPr/>
              <a:t>2017-04-07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CAECCE-BAEF-46B2-88B2-4EAF6DF4C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19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D4E3E-1387-4D46-9DC5-1446F4A5C75E}" type="datetime1">
              <a:rPr lang="ko-KR" altLang="en-US" smtClean="0"/>
              <a:pPr/>
              <a:t>2017-04-07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0" y="188640"/>
            <a:ext cx="9144000" cy="432048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656696"/>
            <a:ext cx="9144000" cy="36000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CAECCE-BAEF-46B2-88B2-4EAF6DF4C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57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A6BD9E1-D8E2-4A03-AFE8-90FBCEDEF6E7}" type="datetime1">
              <a:rPr lang="ko-KR" altLang="en-US" smtClean="0"/>
              <a:pPr/>
              <a:t>2017-04-07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CAECCE-BAEF-46B2-88B2-4EAF6DF4C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02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D728F7-B03D-46F9-A506-AAD9218BA9D2}" type="datetime1">
              <a:rPr lang="ko-KR" altLang="en-US" smtClean="0"/>
              <a:pPr/>
              <a:t>2017-04-07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CAECCE-BAEF-46B2-88B2-4EAF6DF4C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525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tx1">
              <a:lumMod val="85000"/>
              <a:lumOff val="15000"/>
            </a:schemeClr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DBBB7503-0410-4486-A888-579FAED04A71}" type="datetime1">
              <a:rPr lang="ko-KR" altLang="en-US" smtClean="0"/>
              <a:pPr/>
              <a:t>2017-04-07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ACAECCE-BAEF-46B2-88B2-4EAF6DF4C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99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61" r:id="rId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75110" y="4077072"/>
            <a:ext cx="1425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dirty="0">
                <a:solidFill>
                  <a:srgbClr val="E8D0D0"/>
                </a:solidFill>
                <a:ea typeface="나눔바른고딕" panose="020B0603020101020101" pitchFamily="50" charset="-127"/>
              </a:rPr>
              <a:t>2017.04.07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92281" y="4498372"/>
            <a:ext cx="18082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dirty="0">
                <a:solidFill>
                  <a:srgbClr val="E8D0D0"/>
                </a:solidFill>
                <a:ea typeface="나눔바른고딕" panose="020B0603020101020101" pitchFamily="50" charset="-127"/>
              </a:rPr>
              <a:t>팀장</a:t>
            </a:r>
            <a:r>
              <a:rPr lang="ko-KR" altLang="en-US" sz="2400" dirty="0">
                <a:solidFill>
                  <a:srgbClr val="E8D0D0"/>
                </a:solidFill>
                <a:ea typeface="나눔바른고딕" panose="020B0603020101020101" pitchFamily="50" charset="-127"/>
              </a:rPr>
              <a:t> 김동범</a:t>
            </a:r>
            <a:endParaRPr lang="en-US" altLang="ko-KR" sz="2400" dirty="0">
              <a:solidFill>
                <a:srgbClr val="E8D0D0"/>
              </a:solidFill>
              <a:ea typeface="나눔바른고딕" panose="020B0603020101020101" pitchFamily="50" charset="-127"/>
            </a:endParaRPr>
          </a:p>
          <a:p>
            <a:pPr algn="dist"/>
            <a:r>
              <a:rPr lang="ko-KR" altLang="en-US" dirty="0">
                <a:solidFill>
                  <a:srgbClr val="E8D0D0"/>
                </a:solidFill>
                <a:ea typeface="나눔바른고딕" panose="020B0603020101020101" pitchFamily="50" charset="-127"/>
              </a:rPr>
              <a:t>팀원</a:t>
            </a:r>
            <a:r>
              <a:rPr lang="ko-KR" altLang="en-US" sz="2400" dirty="0">
                <a:solidFill>
                  <a:srgbClr val="E8D0D0"/>
                </a:solidFill>
                <a:ea typeface="나눔바른고딕" panose="020B0603020101020101" pitchFamily="50" charset="-127"/>
              </a:rPr>
              <a:t> 김준혁</a:t>
            </a:r>
            <a:endParaRPr lang="en-US" altLang="ko-KR" sz="2400" dirty="0">
              <a:solidFill>
                <a:srgbClr val="E8D0D0"/>
              </a:solidFill>
              <a:ea typeface="나눔바른고딕" panose="020B0603020101020101" pitchFamily="50" charset="-127"/>
            </a:endParaRPr>
          </a:p>
          <a:p>
            <a:pPr algn="dist"/>
            <a:r>
              <a:rPr lang="ko-KR" altLang="en-US" dirty="0">
                <a:solidFill>
                  <a:srgbClr val="E8D0D0"/>
                </a:solidFill>
                <a:ea typeface="나눔바른고딕" panose="020B0603020101020101" pitchFamily="50" charset="-127"/>
              </a:rPr>
              <a:t>팀원</a:t>
            </a:r>
            <a:r>
              <a:rPr lang="ko-KR" altLang="en-US" sz="2400" dirty="0">
                <a:solidFill>
                  <a:srgbClr val="E8D0D0"/>
                </a:solidFill>
                <a:ea typeface="나눔바른고딕" panose="020B0603020101020101" pitchFamily="50" charset="-127"/>
              </a:rPr>
              <a:t> </a:t>
            </a:r>
            <a:r>
              <a:rPr lang="ko-KR" altLang="en-US" sz="2400" dirty="0" err="1">
                <a:solidFill>
                  <a:srgbClr val="E8D0D0"/>
                </a:solidFill>
                <a:ea typeface="나눔바른고딕" panose="020B0603020101020101" pitchFamily="50" charset="-127"/>
              </a:rPr>
              <a:t>원근희</a:t>
            </a:r>
            <a:endParaRPr lang="en-US" altLang="ko-KR" sz="2400" dirty="0">
              <a:solidFill>
                <a:srgbClr val="E8D0D0"/>
              </a:solidFill>
              <a:ea typeface="나눔바른고딕" panose="020B0603020101020101" pitchFamily="50" charset="-127"/>
            </a:endParaRPr>
          </a:p>
          <a:p>
            <a:pPr algn="dist"/>
            <a:r>
              <a:rPr lang="ko-KR" altLang="en-US" dirty="0">
                <a:solidFill>
                  <a:srgbClr val="E8D0D0"/>
                </a:solidFill>
                <a:ea typeface="나눔바른고딕" panose="020B0603020101020101" pitchFamily="50" charset="-127"/>
              </a:rPr>
              <a:t>팀원 </a:t>
            </a:r>
            <a:r>
              <a:rPr lang="ko-KR" altLang="en-US" sz="2400" dirty="0">
                <a:solidFill>
                  <a:srgbClr val="E8D0D0"/>
                </a:solidFill>
                <a:ea typeface="나눔바른고딕" panose="020B0603020101020101" pitchFamily="50" charset="-127"/>
              </a:rPr>
              <a:t>이주형</a:t>
            </a:r>
            <a:endParaRPr lang="en-US" altLang="ko-KR" sz="2400" dirty="0">
              <a:solidFill>
                <a:srgbClr val="E8D0D0"/>
              </a:solidFill>
              <a:ea typeface="나눔바른고딕" panose="020B0603020101020101" pitchFamily="50" charset="-127"/>
            </a:endParaRPr>
          </a:p>
          <a:p>
            <a:pPr algn="dist"/>
            <a:r>
              <a:rPr lang="ko-KR" altLang="en-US" dirty="0">
                <a:solidFill>
                  <a:srgbClr val="E8D0D0"/>
                </a:solidFill>
                <a:ea typeface="나눔바른고딕" panose="020B0603020101020101" pitchFamily="50" charset="-127"/>
              </a:rPr>
              <a:t>팀원</a:t>
            </a:r>
            <a:r>
              <a:rPr lang="ko-KR" altLang="en-US" sz="2400" dirty="0">
                <a:solidFill>
                  <a:srgbClr val="E8D0D0"/>
                </a:solidFill>
                <a:ea typeface="나눔바른고딕" panose="020B0603020101020101" pitchFamily="50" charset="-127"/>
              </a:rPr>
              <a:t> 최동철</a:t>
            </a:r>
            <a:endParaRPr lang="en-US" altLang="ko-KR" sz="2400" dirty="0">
              <a:solidFill>
                <a:srgbClr val="E8D0D0"/>
              </a:solidFill>
              <a:ea typeface="나눔바른고딕" panose="020B060302010102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>
            <a:grayscl/>
          </a:blip>
          <a:srcRect t="27490"/>
          <a:stretch/>
        </p:blipFill>
        <p:spPr>
          <a:xfrm>
            <a:off x="446346" y="3315604"/>
            <a:ext cx="2969912" cy="45210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0" y="1844824"/>
            <a:ext cx="7367606" cy="1296144"/>
          </a:xfrm>
          <a:prstGeom prst="rect">
            <a:avLst/>
          </a:prstGeom>
          <a:solidFill>
            <a:srgbClr val="E6B9B8"/>
          </a:solidFill>
          <a:ln>
            <a:solidFill>
              <a:srgbClr val="E6B9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sz="7200" dirty="0">
                <a:pattFill prst="wdUpDiag">
                  <a:fgClr>
                    <a:schemeClr val="tx1">
                      <a:lumMod val="50000"/>
                      <a:lumOff val="50000"/>
                    </a:schemeClr>
                  </a:fgClr>
                  <a:bgClr>
                    <a:schemeClr val="tx1">
                      <a:lumMod val="95000"/>
                      <a:lumOff val="5000"/>
                    </a:schemeClr>
                  </a:bgClr>
                </a:patt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en-US" altLang="ko-KR" sz="7200" baseline="30000" dirty="0">
                <a:pattFill prst="wdUpDiag">
                  <a:fgClr>
                    <a:schemeClr val="tx1">
                      <a:lumMod val="50000"/>
                      <a:lumOff val="50000"/>
                    </a:schemeClr>
                  </a:fgClr>
                  <a:bgClr>
                    <a:schemeClr val="tx1">
                      <a:lumMod val="95000"/>
                      <a:lumOff val="5000"/>
                    </a:schemeClr>
                  </a:bgClr>
                </a:pattFill>
                <a:latin typeface="HY헤드라인M" panose="02030600000101010101" pitchFamily="18" charset="-127"/>
                <a:ea typeface="HY헤드라인M" panose="02030600000101010101" pitchFamily="18" charset="-127"/>
              </a:rPr>
              <a:t>nd</a:t>
            </a:r>
            <a:r>
              <a:rPr lang="en-US" altLang="ko-KR" sz="7200" dirty="0">
                <a:pattFill prst="wdUpDiag">
                  <a:fgClr>
                    <a:schemeClr val="tx1">
                      <a:lumMod val="50000"/>
                      <a:lumOff val="50000"/>
                    </a:schemeClr>
                  </a:fgClr>
                  <a:bgClr>
                    <a:schemeClr val="tx1">
                      <a:lumMod val="95000"/>
                      <a:lumOff val="5000"/>
                    </a:schemeClr>
                  </a:bgClr>
                </a:pattFill>
                <a:latin typeface="HY헤드라인M" panose="02030600000101010101" pitchFamily="18" charset="-127"/>
                <a:ea typeface="HY헤드라인M" panose="02030600000101010101" pitchFamily="18" charset="-127"/>
              </a:rPr>
              <a:t> PROJECT</a:t>
            </a:r>
            <a:endParaRPr lang="ko-KR" altLang="en-US" sz="7200" dirty="0">
              <a:pattFill prst="wdUpDiag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tx1">
                    <a:lumMod val="95000"/>
                    <a:lumOff val="5000"/>
                  </a:schemeClr>
                </a:bgClr>
              </a:patt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05" y="335699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4E9E9"/>
                </a:solidFill>
              </a:rPr>
              <a:t>by</a:t>
            </a:r>
            <a:endParaRPr lang="ko-KR" altLang="en-US" dirty="0">
              <a:solidFill>
                <a:srgbClr val="F4E9E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367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685394" y="2888190"/>
            <a:ext cx="20553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i="1" spc="-3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한컴 윤고딕 250" pitchFamily="18" charset="-127"/>
                <a:ea typeface="한컴 윤고딕 250" pitchFamily="18" charset="-127"/>
              </a:rPr>
              <a:t>CONTENTS</a:t>
            </a:r>
            <a:endParaRPr lang="ko-KR" altLang="en-US" sz="3200" i="1" spc="-300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한컴 윤고딕 250" pitchFamily="18" charset="-127"/>
              <a:ea typeface="한컴 윤고딕 250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92080" y="2374868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1. </a:t>
            </a:r>
            <a:r>
              <a:rPr lang="ko-KR" altLang="en-US" b="1" dirty="0">
                <a:solidFill>
                  <a:schemeClr val="bg1"/>
                </a:solidFill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080" y="311251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2. </a:t>
            </a:r>
            <a:r>
              <a:rPr lang="ko-KR" altLang="en-US" b="1" dirty="0">
                <a:solidFill>
                  <a:schemeClr val="bg1"/>
                </a:solidFill>
              </a:rPr>
              <a:t>업무분담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92080" y="3851756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3. </a:t>
            </a:r>
            <a:r>
              <a:rPr lang="ko-KR" altLang="en-US" b="1" dirty="0">
                <a:solidFill>
                  <a:schemeClr val="bg1"/>
                </a:solidFill>
              </a:rPr>
              <a:t>향후 일정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" y="3348431"/>
            <a:ext cx="4216948" cy="45719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ACAECCE-BAEF-46B2-88B2-4EAF6DF4C6B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257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tx1">
              <a:lumMod val="85000"/>
              <a:lumOff val="15000"/>
            </a:schemeClr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-4971" y="169384"/>
            <a:ext cx="2493217" cy="584775"/>
            <a:chOff x="-4971" y="169384"/>
            <a:chExt cx="2493217" cy="584775"/>
          </a:xfrm>
        </p:grpSpPr>
        <p:sp>
          <p:nvSpPr>
            <p:cNvPr id="12" name="TextBox 11"/>
            <p:cNvSpPr txBox="1"/>
            <p:nvPr/>
          </p:nvSpPr>
          <p:spPr>
            <a:xfrm>
              <a:off x="-4971" y="169384"/>
              <a:ext cx="4203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latin typeface="한컴 윤고딕 250" pitchFamily="18" charset="-127"/>
                  <a:ea typeface="한컴 윤고딕 250" pitchFamily="18" charset="-127"/>
                </a:rPr>
                <a:t>1</a:t>
              </a:r>
              <a:endParaRPr lang="ko-KR" altLang="en-US" sz="3200" dirty="0">
                <a:latin typeface="한컴 윤고딕 250" pitchFamily="18" charset="-127"/>
                <a:ea typeface="한컴 윤고딕 250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7916" y="244787"/>
              <a:ext cx="21403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latin typeface="맑은 고딕" pitchFamily="50" charset="-127"/>
                  <a:ea typeface="맑은 고딕" pitchFamily="50" charset="-127"/>
                </a:rPr>
                <a:t>프로젝트 개요</a:t>
              </a:r>
            </a:p>
          </p:txBody>
        </p:sp>
      </p:grpSp>
      <p:sp>
        <p:nvSpPr>
          <p:cNvPr id="15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ACAECCE-BAEF-46B2-88B2-4EAF6DF4C6BA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1026" name="Picture 2" descr="http://www.kalhotel.co.kr/images/jeju/facility/casino_img0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3" r="16419"/>
          <a:stretch/>
        </p:blipFill>
        <p:spPr bwMode="auto">
          <a:xfrm>
            <a:off x="4788024" y="1772816"/>
            <a:ext cx="4032449" cy="3600000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cfile9.uf.tistory.com/image/1437FD354E4125EF32B1A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48" y="1772816"/>
            <a:ext cx="4511968" cy="3600000"/>
          </a:xfrm>
          <a:prstGeom prst="rect">
            <a:avLst/>
          </a:prstGeom>
          <a:noFill/>
          <a:effectLst>
            <a:softEdge rad="152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81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-4971" y="169384"/>
            <a:ext cx="1877663" cy="584775"/>
            <a:chOff x="-4971" y="169384"/>
            <a:chExt cx="1877663" cy="584775"/>
          </a:xfrm>
        </p:grpSpPr>
        <p:sp>
          <p:nvSpPr>
            <p:cNvPr id="12" name="TextBox 11"/>
            <p:cNvSpPr txBox="1"/>
            <p:nvPr/>
          </p:nvSpPr>
          <p:spPr>
            <a:xfrm>
              <a:off x="-4971" y="169384"/>
              <a:ext cx="4203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latin typeface="한컴 윤고딕 250" pitchFamily="18" charset="-127"/>
                  <a:ea typeface="한컴 윤고딕 250" pitchFamily="18" charset="-127"/>
                </a:rPr>
                <a:t>2</a:t>
              </a:r>
              <a:endParaRPr lang="ko-KR" altLang="en-US" sz="3200" dirty="0">
                <a:latin typeface="한컴 윤고딕 250" pitchFamily="18" charset="-127"/>
                <a:ea typeface="한컴 윤고딕 250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7916" y="244787"/>
              <a:ext cx="1524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latin typeface="맑은 고딕" pitchFamily="50" charset="-127"/>
                  <a:ea typeface="맑은 고딕" pitchFamily="50" charset="-127"/>
                </a:rPr>
                <a:t>임무 분담</a:t>
              </a:r>
            </a:p>
          </p:txBody>
        </p:sp>
      </p:grpSp>
      <p:sp>
        <p:nvSpPr>
          <p:cNvPr id="15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ACAECCE-BAEF-46B2-88B2-4EAF6DF4C6BA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" name="오각형 1"/>
          <p:cNvSpPr/>
          <p:nvPr/>
        </p:nvSpPr>
        <p:spPr>
          <a:xfrm>
            <a:off x="3131840" y="2348880"/>
            <a:ext cx="2703900" cy="2575143"/>
          </a:xfrm>
          <a:prstGeom prst="pentagon">
            <a:avLst/>
          </a:prstGeom>
          <a:noFill/>
          <a:ln w="107950" cap="rnd" cmpd="sng">
            <a:solidFill>
              <a:srgbClr val="E6B9B8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9" name="그룹 38"/>
          <p:cNvGrpSpPr/>
          <p:nvPr/>
        </p:nvGrpSpPr>
        <p:grpSpPr>
          <a:xfrm>
            <a:off x="3466672" y="1371315"/>
            <a:ext cx="2113440" cy="738664"/>
            <a:chOff x="3392530" y="1371315"/>
            <a:chExt cx="2113440" cy="738664"/>
          </a:xfrm>
        </p:grpSpPr>
        <p:sp>
          <p:nvSpPr>
            <p:cNvPr id="34" name="TextBox 33"/>
            <p:cNvSpPr txBox="1"/>
            <p:nvPr/>
          </p:nvSpPr>
          <p:spPr>
            <a:xfrm>
              <a:off x="3448997" y="1771425"/>
              <a:ext cx="20569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- DB </a:t>
              </a:r>
              <a:r>
                <a:rPr lang="ko-KR" altLang="en-US" sz="1600" dirty="0">
                  <a:solidFill>
                    <a:schemeClr val="bg1"/>
                  </a:solidFill>
                </a:rPr>
                <a:t>관련 자료 조사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3392530" y="1371315"/>
              <a:ext cx="1010574" cy="400110"/>
              <a:chOff x="3392530" y="1371315"/>
              <a:chExt cx="1010574" cy="400110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3448997" y="1371315"/>
                <a:ext cx="9541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+mj-lt"/>
                  </a:rPr>
                  <a:t>김동범</a:t>
                </a: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3392530" y="1433798"/>
                <a:ext cx="36000" cy="288000"/>
              </a:xfrm>
              <a:prstGeom prst="rect">
                <a:avLst/>
              </a:prstGeom>
              <a:solidFill>
                <a:srgbClr val="D99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71" name="그룹 70"/>
          <p:cNvGrpSpPr/>
          <p:nvPr/>
        </p:nvGrpSpPr>
        <p:grpSpPr>
          <a:xfrm>
            <a:off x="6084168" y="2885320"/>
            <a:ext cx="2402879" cy="738664"/>
            <a:chOff x="3392530" y="1371315"/>
            <a:chExt cx="2402879" cy="738664"/>
          </a:xfrm>
        </p:grpSpPr>
        <p:sp>
          <p:nvSpPr>
            <p:cNvPr id="72" name="TextBox 71"/>
            <p:cNvSpPr txBox="1"/>
            <p:nvPr/>
          </p:nvSpPr>
          <p:spPr>
            <a:xfrm>
              <a:off x="3448997" y="1771425"/>
              <a:ext cx="23464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ko-KR" sz="1600" dirty="0">
                  <a:solidFill>
                    <a:schemeClr val="bg1"/>
                  </a:solidFill>
                </a:rPr>
                <a:t>jQuery </a:t>
              </a:r>
              <a:r>
                <a:rPr lang="ko-KR" altLang="en-US" sz="1600" dirty="0">
                  <a:solidFill>
                    <a:schemeClr val="bg1"/>
                  </a:solidFill>
                </a:rPr>
                <a:t>및 </a:t>
              </a:r>
              <a:r>
                <a:rPr lang="en-US" altLang="ko-KR" sz="1600" dirty="0">
                  <a:solidFill>
                    <a:schemeClr val="bg1"/>
                  </a:solidFill>
                </a:rPr>
                <a:t>bootstrap</a:t>
              </a:r>
            </a:p>
          </p:txBody>
        </p:sp>
        <p:grpSp>
          <p:nvGrpSpPr>
            <p:cNvPr id="73" name="그룹 72"/>
            <p:cNvGrpSpPr/>
            <p:nvPr/>
          </p:nvGrpSpPr>
          <p:grpSpPr>
            <a:xfrm>
              <a:off x="3392530" y="1371315"/>
              <a:ext cx="1010574" cy="400110"/>
              <a:chOff x="3392530" y="1371315"/>
              <a:chExt cx="1010574" cy="400110"/>
            </a:xfrm>
          </p:grpSpPr>
          <p:sp>
            <p:nvSpPr>
              <p:cNvPr id="74" name="TextBox 73"/>
              <p:cNvSpPr txBox="1"/>
              <p:nvPr/>
            </p:nvSpPr>
            <p:spPr>
              <a:xfrm>
                <a:off x="3448997" y="1371315"/>
                <a:ext cx="9541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</a:rPr>
                  <a:t>최동철</a:t>
                </a:r>
              </a:p>
            </p:txBody>
          </p:sp>
          <p:sp>
            <p:nvSpPr>
              <p:cNvPr id="75" name="직사각형 74"/>
              <p:cNvSpPr/>
              <p:nvPr/>
            </p:nvSpPr>
            <p:spPr>
              <a:xfrm>
                <a:off x="3392530" y="1433798"/>
                <a:ext cx="36000" cy="288000"/>
              </a:xfrm>
              <a:prstGeom prst="rect">
                <a:avLst/>
              </a:prstGeom>
              <a:solidFill>
                <a:srgbClr val="D99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76" name="그룹 75"/>
          <p:cNvGrpSpPr/>
          <p:nvPr/>
        </p:nvGrpSpPr>
        <p:grpSpPr>
          <a:xfrm>
            <a:off x="5364088" y="4994592"/>
            <a:ext cx="2751307" cy="738664"/>
            <a:chOff x="3392530" y="1371315"/>
            <a:chExt cx="2751307" cy="738664"/>
          </a:xfrm>
        </p:grpSpPr>
        <p:sp>
          <p:nvSpPr>
            <p:cNvPr id="77" name="TextBox 76"/>
            <p:cNvSpPr txBox="1"/>
            <p:nvPr/>
          </p:nvSpPr>
          <p:spPr>
            <a:xfrm>
              <a:off x="3448997" y="1771425"/>
              <a:ext cx="26948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- Web Socket </a:t>
              </a:r>
              <a:r>
                <a:rPr lang="ko-KR" altLang="en-US" sz="1600" dirty="0">
                  <a:solidFill>
                    <a:schemeClr val="bg1"/>
                  </a:solidFill>
                </a:rPr>
                <a:t>조사 및 연구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78" name="그룹 77"/>
            <p:cNvGrpSpPr/>
            <p:nvPr/>
          </p:nvGrpSpPr>
          <p:grpSpPr>
            <a:xfrm>
              <a:off x="3392530" y="1371315"/>
              <a:ext cx="1010574" cy="400110"/>
              <a:chOff x="3392530" y="1371315"/>
              <a:chExt cx="1010574" cy="400110"/>
            </a:xfrm>
          </p:grpSpPr>
          <p:sp>
            <p:nvSpPr>
              <p:cNvPr id="79" name="TextBox 78"/>
              <p:cNvSpPr txBox="1"/>
              <p:nvPr/>
            </p:nvSpPr>
            <p:spPr>
              <a:xfrm>
                <a:off x="3448997" y="1371315"/>
                <a:ext cx="9541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</a:rPr>
                  <a:t>이주형</a:t>
                </a:r>
              </a:p>
            </p:txBody>
          </p:sp>
          <p:sp>
            <p:nvSpPr>
              <p:cNvPr id="80" name="직사각형 79"/>
              <p:cNvSpPr/>
              <p:nvPr/>
            </p:nvSpPr>
            <p:spPr>
              <a:xfrm>
                <a:off x="3392530" y="1433798"/>
                <a:ext cx="36000" cy="288000"/>
              </a:xfrm>
              <a:prstGeom prst="rect">
                <a:avLst/>
              </a:prstGeom>
              <a:solidFill>
                <a:srgbClr val="D99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86" name="그룹 85"/>
          <p:cNvGrpSpPr/>
          <p:nvPr/>
        </p:nvGrpSpPr>
        <p:grpSpPr>
          <a:xfrm>
            <a:off x="735980" y="2947803"/>
            <a:ext cx="2271432" cy="738664"/>
            <a:chOff x="3392530" y="1371315"/>
            <a:chExt cx="2271432" cy="738664"/>
          </a:xfrm>
        </p:grpSpPr>
        <p:sp>
          <p:nvSpPr>
            <p:cNvPr id="87" name="TextBox 86"/>
            <p:cNvSpPr txBox="1"/>
            <p:nvPr/>
          </p:nvSpPr>
          <p:spPr>
            <a:xfrm>
              <a:off x="3448997" y="1771425"/>
              <a:ext cx="22149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- jQuery </a:t>
              </a:r>
              <a:r>
                <a:rPr lang="ko-KR" altLang="en-US" sz="1600" dirty="0">
                  <a:solidFill>
                    <a:schemeClr val="bg1"/>
                  </a:solidFill>
                </a:rPr>
                <a:t>및 </a:t>
              </a:r>
              <a:r>
                <a:rPr lang="en-US" altLang="ko-KR" sz="1600" dirty="0">
                  <a:solidFill>
                    <a:schemeClr val="bg1"/>
                  </a:solidFill>
                </a:rPr>
                <a:t>bootstrap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88" name="그룹 87"/>
            <p:cNvGrpSpPr/>
            <p:nvPr/>
          </p:nvGrpSpPr>
          <p:grpSpPr>
            <a:xfrm>
              <a:off x="3392530" y="1371315"/>
              <a:ext cx="1010574" cy="400110"/>
              <a:chOff x="3392530" y="1371315"/>
              <a:chExt cx="1010574" cy="400110"/>
            </a:xfrm>
          </p:grpSpPr>
          <p:sp>
            <p:nvSpPr>
              <p:cNvPr id="89" name="TextBox 88"/>
              <p:cNvSpPr txBox="1"/>
              <p:nvPr/>
            </p:nvSpPr>
            <p:spPr>
              <a:xfrm>
                <a:off x="3448997" y="1371315"/>
                <a:ext cx="9541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+mj-lt"/>
                  </a:rPr>
                  <a:t>김준혁</a:t>
                </a:r>
              </a:p>
            </p:txBody>
          </p:sp>
          <p:sp>
            <p:nvSpPr>
              <p:cNvPr id="90" name="직사각형 89"/>
              <p:cNvSpPr/>
              <p:nvPr/>
            </p:nvSpPr>
            <p:spPr>
              <a:xfrm>
                <a:off x="3392530" y="1433798"/>
                <a:ext cx="36000" cy="288000"/>
              </a:xfrm>
              <a:prstGeom prst="rect">
                <a:avLst/>
              </a:prstGeom>
              <a:solidFill>
                <a:srgbClr val="D99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91" name="그룹 90"/>
          <p:cNvGrpSpPr/>
          <p:nvPr/>
        </p:nvGrpSpPr>
        <p:grpSpPr>
          <a:xfrm>
            <a:off x="2172130" y="4994592"/>
            <a:ext cx="2271432" cy="738664"/>
            <a:chOff x="3392530" y="1371315"/>
            <a:chExt cx="2271432" cy="738664"/>
          </a:xfrm>
        </p:grpSpPr>
        <p:sp>
          <p:nvSpPr>
            <p:cNvPr id="92" name="TextBox 91"/>
            <p:cNvSpPr txBox="1"/>
            <p:nvPr/>
          </p:nvSpPr>
          <p:spPr>
            <a:xfrm>
              <a:off x="3448997" y="1771425"/>
              <a:ext cx="22149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- jQuery </a:t>
              </a:r>
              <a:r>
                <a:rPr lang="ko-KR" altLang="en-US" sz="1600" dirty="0">
                  <a:solidFill>
                    <a:schemeClr val="bg1"/>
                  </a:solidFill>
                </a:rPr>
                <a:t>및 </a:t>
              </a:r>
              <a:r>
                <a:rPr lang="en-US" altLang="ko-KR" sz="1600">
                  <a:solidFill>
                    <a:schemeClr val="bg1"/>
                  </a:solidFill>
                </a:rPr>
                <a:t>bootstrap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93" name="그룹 92"/>
            <p:cNvGrpSpPr/>
            <p:nvPr/>
          </p:nvGrpSpPr>
          <p:grpSpPr>
            <a:xfrm>
              <a:off x="3392530" y="1371315"/>
              <a:ext cx="1010574" cy="400110"/>
              <a:chOff x="3392530" y="1371315"/>
              <a:chExt cx="1010574" cy="400110"/>
            </a:xfrm>
          </p:grpSpPr>
          <p:sp>
            <p:nvSpPr>
              <p:cNvPr id="94" name="TextBox 93"/>
              <p:cNvSpPr txBox="1"/>
              <p:nvPr/>
            </p:nvSpPr>
            <p:spPr>
              <a:xfrm>
                <a:off x="3448997" y="1371315"/>
                <a:ext cx="9541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 err="1">
                    <a:solidFill>
                      <a:schemeClr val="bg1"/>
                    </a:solidFill>
                  </a:rPr>
                  <a:t>원근희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직사각형 94"/>
              <p:cNvSpPr/>
              <p:nvPr/>
            </p:nvSpPr>
            <p:spPr>
              <a:xfrm>
                <a:off x="3392530" y="1433798"/>
                <a:ext cx="36000" cy="288000"/>
              </a:xfrm>
              <a:prstGeom prst="rect">
                <a:avLst/>
              </a:prstGeom>
              <a:solidFill>
                <a:srgbClr val="D99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557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4971" y="169384"/>
            <a:ext cx="1877663" cy="584775"/>
            <a:chOff x="-4971" y="169384"/>
            <a:chExt cx="1877663" cy="584775"/>
          </a:xfrm>
        </p:grpSpPr>
        <p:sp>
          <p:nvSpPr>
            <p:cNvPr id="16" name="TextBox 15"/>
            <p:cNvSpPr txBox="1"/>
            <p:nvPr/>
          </p:nvSpPr>
          <p:spPr>
            <a:xfrm>
              <a:off x="-4971" y="169384"/>
              <a:ext cx="4203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latin typeface="한컴 윤고딕 250" pitchFamily="18" charset="-127"/>
                  <a:ea typeface="한컴 윤고딕 250" pitchFamily="18" charset="-127"/>
                </a:rPr>
                <a:t>3</a:t>
              </a:r>
              <a:endParaRPr lang="ko-KR" altLang="en-US" sz="3200" dirty="0">
                <a:latin typeface="한컴 윤고딕 250" pitchFamily="18" charset="-127"/>
                <a:ea typeface="한컴 윤고딕 250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916" y="244787"/>
              <a:ext cx="1524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latin typeface="맑은 고딕" pitchFamily="50" charset="-127"/>
                  <a:ea typeface="맑은 고딕" pitchFamily="50" charset="-127"/>
                </a:rPr>
                <a:t>향후 일정</a:t>
              </a:r>
            </a:p>
          </p:txBody>
        </p:sp>
      </p:grpSp>
      <p:sp>
        <p:nvSpPr>
          <p:cNvPr id="18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ACAECCE-BAEF-46B2-88B2-4EAF6DF4C6BA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41872"/>
              </p:ext>
            </p:extLst>
          </p:nvPr>
        </p:nvGraphicFramePr>
        <p:xfrm>
          <a:off x="477880" y="1916832"/>
          <a:ext cx="8208920" cy="3316048"/>
        </p:xfrm>
        <a:graphic>
          <a:graphicData uri="http://schemas.openxmlformats.org/drawingml/2006/table">
            <a:tbl>
              <a:tblPr firstRow="1" bandRow="1">
                <a:effectLst>
                  <a:reflection blurRad="6350" stA="21000" endPos="29000" dist="215900" dir="5400000" sy="-100000" algn="bl" rotWithShape="0"/>
                </a:effectLst>
                <a:tableStyleId>{21E4AEA4-8DFA-4A89-87EB-49C32662AFE0}</a:tableStyleId>
              </a:tblPr>
              <a:tblGrid>
                <a:gridCol w="410446">
                  <a:extLst>
                    <a:ext uri="{9D8B030D-6E8A-4147-A177-3AD203B41FA5}">
                      <a16:colId xmlns:a16="http://schemas.microsoft.com/office/drawing/2014/main" val="2164843689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3981541560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2887356224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2314167251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3273541967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504676903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748382730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576152698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2115075064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1635276244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3423540751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1116737797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3275433521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2504701095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197250777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1068229034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1103263065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2589356033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2151737328"/>
                    </a:ext>
                  </a:extLst>
                </a:gridCol>
                <a:gridCol w="410446">
                  <a:extLst>
                    <a:ext uri="{9D8B030D-6E8A-4147-A177-3AD203B41FA5}">
                      <a16:colId xmlns:a16="http://schemas.microsoft.com/office/drawing/2014/main" val="2991254685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4/7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014569"/>
                  </a:ext>
                </a:extLst>
              </a:tr>
              <a:tr h="68499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기획</a:t>
                      </a:r>
                    </a:p>
                  </a:txBody>
                  <a:tcPr marL="137160" marR="137160" marT="137160" marB="13716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508925"/>
                  </a:ext>
                </a:extLst>
              </a:tr>
              <a:tr h="684996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자료조사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644680"/>
                  </a:ext>
                </a:extLst>
              </a:tr>
              <a:tr h="68499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rgbClr val="E8D0D0"/>
                          </a:solidFill>
                        </a:rPr>
                        <a:t>디자인 및 구현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232870"/>
                  </a:ext>
                </a:extLst>
              </a:tr>
              <a:tr h="68499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rgbClr val="E8D0D0"/>
                          </a:solidFill>
                        </a:rPr>
                        <a:t>테스트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590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07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22895" y="2646437"/>
            <a:ext cx="50032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00" dirty="0">
                <a:solidFill>
                  <a:srgbClr val="E8D0D0"/>
                </a:solidFill>
              </a:rPr>
              <a:t>감사합니다</a:t>
            </a:r>
            <a:r>
              <a:rPr lang="en-US" altLang="ko-KR" sz="7200" dirty="0">
                <a:solidFill>
                  <a:srgbClr val="E8D0D0"/>
                </a:solidFill>
              </a:rPr>
              <a:t>.</a:t>
            </a:r>
            <a:endParaRPr lang="ko-KR" altLang="en-US" sz="7200" dirty="0">
              <a:solidFill>
                <a:srgbClr val="E8D0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698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3335</TotalTime>
  <Words>94</Words>
  <Application>Microsoft Office PowerPoint</Application>
  <PresentationFormat>화면 슬라이드 쇼(4:3)</PresentationFormat>
  <Paragraphs>57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HY헤드라인M</vt:lpstr>
      <vt:lpstr>Arial</vt:lpstr>
      <vt:lpstr>한컴 윤고딕 250</vt:lpstr>
      <vt:lpstr>나눔바른고딕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HIIE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10 최재희</dc:creator>
  <cp:lastModifiedBy>김동범</cp:lastModifiedBy>
  <cp:revision>200</cp:revision>
  <dcterms:created xsi:type="dcterms:W3CDTF">2013-11-26T01:21:42Z</dcterms:created>
  <dcterms:modified xsi:type="dcterms:W3CDTF">2017-04-07T00:57:52Z</dcterms:modified>
</cp:coreProperties>
</file>