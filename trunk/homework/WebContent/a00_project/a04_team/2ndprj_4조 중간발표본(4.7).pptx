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02" r:id="rId2"/>
    <p:sldId id="311" r:id="rId3"/>
    <p:sldId id="305" r:id="rId4"/>
    <p:sldId id="346" r:id="rId5"/>
    <p:sldId id="306" r:id="rId6"/>
    <p:sldId id="363" r:id="rId7"/>
    <p:sldId id="360" r:id="rId8"/>
    <p:sldId id="362" r:id="rId9"/>
    <p:sldId id="354" r:id="rId10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478"/>
    <a:srgbClr val="FFC8C8"/>
    <a:srgbClr val="FF3300"/>
    <a:srgbClr val="FFB3B3"/>
    <a:srgbClr val="A47160"/>
    <a:srgbClr val="D4A190"/>
    <a:srgbClr val="797160"/>
    <a:srgbClr val="BC8978"/>
    <a:srgbClr val="FFFFFF"/>
    <a:srgbClr val="3F3F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4995" autoAdjust="0"/>
    <p:restoredTop sz="94660"/>
  </p:normalViewPr>
  <p:slideViewPr>
    <p:cSldViewPr>
      <p:cViewPr>
        <p:scale>
          <a:sx n="90" d="100"/>
          <a:sy n="90" d="100"/>
        </p:scale>
        <p:origin x="-432" y="-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2A2CB9D-B257-41F8-A295-8D458B2A424C}" type="datetimeFigureOut">
              <a:rPr lang="ko-KR" altLang="en-US"/>
              <a:pPr>
                <a:defRPr/>
              </a:pPr>
              <a:t>2017-04-07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EBDD758-0125-439D-8CBA-E2C2FBDCD0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3000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13CD2E-FB82-4887-88CF-A876D63CD3C0}" type="datetimeFigureOut">
              <a:rPr lang="ko-KR" altLang="en-US"/>
              <a:pPr>
                <a:defRPr/>
              </a:pPr>
              <a:t>2017-04-07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F09B1-E06C-4D31-96D8-6CBB2E1329F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223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3423D-2402-4564-B07F-91F97D2ACADB}" type="datetimeFigureOut">
              <a:rPr lang="ko-KR" altLang="en-US"/>
              <a:pPr>
                <a:defRPr/>
              </a:pPr>
              <a:t>2017-04-07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67501F-24A0-48E1-A497-3A6D39012AF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668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A606F7-5643-4EC9-B0C0-CFA33916C9F7}" type="datetimeFigureOut">
              <a:rPr lang="ko-KR" altLang="en-US"/>
              <a:pPr>
                <a:defRPr/>
              </a:pPr>
              <a:t>2017-04-07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091B8F-4768-4902-A1D3-1AD557E8D47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808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D1DC3-228D-4D16-9D10-AEF451132A60}" type="datetimeFigureOut">
              <a:rPr lang="ko-KR" altLang="en-US"/>
              <a:pPr>
                <a:defRPr/>
              </a:pPr>
              <a:t>2017-04-07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317A2-263F-4423-9771-8F22B884BBF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854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7E6A08-50D4-4807-A1CD-9AF47B084F31}" type="datetimeFigureOut">
              <a:rPr lang="ko-KR" altLang="en-US"/>
              <a:pPr>
                <a:defRPr/>
              </a:pPr>
              <a:t>2017-04-07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CC9BCA-F73D-4125-977F-8ABA1275ABC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930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C06AB-5337-4579-8B04-5D631293C970}" type="datetimeFigureOut">
              <a:rPr lang="ko-KR" altLang="en-US"/>
              <a:pPr>
                <a:defRPr/>
              </a:pPr>
              <a:t>2017-04-07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12760E-4B4E-4A87-BE09-BE28A72E15D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6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6678613"/>
            <a:ext cx="9144000" cy="179387"/>
          </a:xfrm>
          <a:prstGeom prst="rect">
            <a:avLst/>
          </a:prstGeom>
          <a:solidFill>
            <a:srgbClr val="FF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0" y="115888"/>
            <a:ext cx="4679950" cy="360362"/>
          </a:xfrm>
          <a:prstGeom prst="rect">
            <a:avLst/>
          </a:prstGeom>
          <a:solidFill>
            <a:srgbClr val="FF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2" t="13031" r="13493" b="25694"/>
          <a:stretch/>
        </p:blipFill>
        <p:spPr>
          <a:xfrm>
            <a:off x="8676456" y="6673290"/>
            <a:ext cx="467544" cy="21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9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7F9D5-2AAC-4F97-AC44-E6C5995F2528}" type="datetimeFigureOut">
              <a:rPr lang="ko-KR" altLang="en-US"/>
              <a:pPr>
                <a:defRPr/>
              </a:pPr>
              <a:t>2017-04-07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5ED233-BF88-40CD-9CB3-852795E044B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917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CA831C-3540-4BBF-B825-5C40D86D717E}" type="datetimeFigureOut">
              <a:rPr lang="ko-KR" altLang="en-US"/>
              <a:pPr>
                <a:defRPr/>
              </a:pPr>
              <a:t>2017-04-07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788F24-9860-41E6-A6D3-D3AE07415F3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5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BAE08-A5D8-44CB-82A3-CD152B6D749E}" type="datetimeFigureOut">
              <a:rPr lang="ko-KR" altLang="en-US"/>
              <a:pPr>
                <a:defRPr/>
              </a:pPr>
              <a:t>2017-04-07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2B9F78-22D5-4BC2-8B6F-0702398534B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301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1CE972-0508-4657-89F3-804AC327D369}" type="datetimeFigureOut">
              <a:rPr lang="ko-KR" altLang="en-US"/>
              <a:pPr>
                <a:defRPr/>
              </a:pPr>
              <a:t>2017-04-07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39E018-8A0B-4CCA-BDB5-C99B90EB37C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806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AB26DA7-61A3-4EC3-B4A9-CAFABC678C22}" type="datetimeFigureOut">
              <a:rPr lang="ko-KR" altLang="en-US"/>
              <a:pPr>
                <a:defRPr/>
              </a:pPr>
              <a:t>2017-04-07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66B298B-8681-46C8-9BEF-5B8CA9852B6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6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0"/>
            <a:ext cx="9144000" cy="1800225"/>
          </a:xfrm>
          <a:prstGeom prst="rect">
            <a:avLst/>
          </a:prstGeom>
          <a:solidFill>
            <a:srgbClr val="FF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srgbClr val="6F9C8F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5057775"/>
            <a:ext cx="9144000" cy="1800225"/>
          </a:xfrm>
          <a:prstGeom prst="rect">
            <a:avLst/>
          </a:prstGeom>
          <a:solidFill>
            <a:srgbClr val="FF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srgbClr val="6F9C8F"/>
              </a:solidFill>
            </a:endParaRPr>
          </a:p>
        </p:txBody>
      </p:sp>
      <p:sp>
        <p:nvSpPr>
          <p:cNvPr id="3077" name="TextBox 4"/>
          <p:cNvSpPr txBox="1">
            <a:spLocks noChangeArrowheads="1"/>
          </p:cNvSpPr>
          <p:nvPr/>
        </p:nvSpPr>
        <p:spPr bwMode="auto">
          <a:xfrm>
            <a:off x="3228975" y="6165850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 dirty="0"/>
              <a:t>황원준</a:t>
            </a:r>
            <a:r>
              <a:rPr kumimoji="0" lang="en-US" altLang="ko-KR" sz="1200" b="1" dirty="0"/>
              <a:t>    </a:t>
            </a:r>
            <a:r>
              <a:rPr kumimoji="0" lang="ko-KR" altLang="en-US" sz="1200" b="1" dirty="0"/>
              <a:t>김도현    윤은혜    이소영</a:t>
            </a:r>
          </a:p>
        </p:txBody>
      </p:sp>
      <p:sp>
        <p:nvSpPr>
          <p:cNvPr id="3078" name="TextBox 5"/>
          <p:cNvSpPr txBox="1">
            <a:spLocks noChangeArrowheads="1"/>
          </p:cNvSpPr>
          <p:nvPr/>
        </p:nvSpPr>
        <p:spPr bwMode="auto">
          <a:xfrm>
            <a:off x="3328988" y="6423025"/>
            <a:ext cx="24860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100" dirty="0"/>
              <a:t>( 2017 – </a:t>
            </a:r>
            <a:r>
              <a:rPr kumimoji="0" lang="en-US" altLang="ko-KR" sz="1100" dirty="0" smtClean="0"/>
              <a:t>04 </a:t>
            </a:r>
            <a:r>
              <a:rPr kumimoji="0" lang="en-US" altLang="ko-KR" sz="1100" dirty="0"/>
              <a:t>– </a:t>
            </a:r>
            <a:r>
              <a:rPr kumimoji="0" lang="en-US" altLang="ko-KR" sz="1100" dirty="0" smtClean="0"/>
              <a:t>05 </a:t>
            </a:r>
            <a:r>
              <a:rPr kumimoji="0" lang="en-US" altLang="ko-KR" sz="1100" dirty="0"/>
              <a:t>~ 2017 – </a:t>
            </a:r>
            <a:r>
              <a:rPr kumimoji="0" lang="en-US" altLang="ko-KR" sz="1100" dirty="0" smtClean="0"/>
              <a:t>04 </a:t>
            </a:r>
            <a:r>
              <a:rPr kumimoji="0" lang="en-US" altLang="ko-KR" sz="1100" dirty="0"/>
              <a:t>– </a:t>
            </a:r>
            <a:r>
              <a:rPr kumimoji="0" lang="en-US" altLang="ko-KR" sz="1100" dirty="0" smtClean="0"/>
              <a:t>28 </a:t>
            </a:r>
            <a:r>
              <a:rPr kumimoji="0" lang="en-US" altLang="ko-KR" sz="1100" dirty="0"/>
              <a:t>)</a:t>
            </a:r>
            <a:endParaRPr kumimoji="0" lang="ko-KR" altLang="en-US" sz="11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975" y="2780928"/>
            <a:ext cx="3146750" cy="1656184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267744" y="2636912"/>
            <a:ext cx="4320480" cy="163121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100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3478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Jokerman" panose="04090605060D06020702" pitchFamily="82" charset="0"/>
              </a:rPr>
              <a:t>nolja</a:t>
            </a:r>
            <a:r>
              <a:rPr lang="en-US" altLang="ko-KR" sz="10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3478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Jokerman" panose="04090605060D06020702" pitchFamily="82" charset="0"/>
              </a:rPr>
              <a:t>!</a:t>
            </a:r>
            <a:endParaRPr lang="en-US" altLang="ko-KR" sz="100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3478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Jokerman" panose="04090605060D060207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9144000" cy="179388"/>
          </a:xfrm>
          <a:prstGeom prst="rect">
            <a:avLst/>
          </a:prstGeom>
          <a:solidFill>
            <a:srgbClr val="FF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srgbClr val="6F9C8F"/>
              </a:solidFill>
            </a:endParaRPr>
          </a:p>
        </p:txBody>
      </p:sp>
      <p:sp>
        <p:nvSpPr>
          <p:cNvPr id="4099" name="제목 1"/>
          <p:cNvSpPr>
            <a:spLocks noGrp="1"/>
          </p:cNvSpPr>
          <p:nvPr>
            <p:ph type="title"/>
          </p:nvPr>
        </p:nvSpPr>
        <p:spPr>
          <a:xfrm>
            <a:off x="467544" y="264459"/>
            <a:ext cx="2530475" cy="777875"/>
          </a:xfrm>
          <a:noFill/>
        </p:spPr>
        <p:txBody>
          <a:bodyPr/>
          <a:lstStyle/>
          <a:p>
            <a:pPr algn="l" eaLnBrk="1" hangingPunct="1"/>
            <a:r>
              <a:rPr lang="en-US" altLang="ko-KR" sz="3200" b="1" dirty="0" smtClean="0">
                <a:solidFill>
                  <a:srgbClr val="FF3478"/>
                </a:solidFill>
              </a:rPr>
              <a:t>INDEX</a:t>
            </a:r>
            <a:endParaRPr lang="ko-KR" altLang="en-US" sz="3200" b="1" dirty="0" smtClean="0">
              <a:solidFill>
                <a:srgbClr val="FF3478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84212" y="1017588"/>
            <a:ext cx="4031803" cy="5219700"/>
          </a:xfrm>
          <a:prstGeom prst="rect">
            <a:avLst/>
          </a:prstGeom>
          <a:solidFill>
            <a:srgbClr val="FFC8C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4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00112" y="1017041"/>
            <a:ext cx="3527871" cy="5148263"/>
          </a:xfrm>
        </p:spPr>
        <p:txBody>
          <a:bodyPr rtlCol="0">
            <a:noAutofit/>
          </a:bodyPr>
          <a:lstStyle/>
          <a:p>
            <a:pPr eaLnBrk="1" fontAlgn="auto" hangingPunct="1">
              <a:lnSpc>
                <a:spcPct val="200000"/>
              </a:lnSpc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ko-KR" altLang="en-US" sz="2400" b="1" dirty="0" smtClean="0">
                <a:solidFill>
                  <a:srgbClr val="FF3478"/>
                </a:solidFill>
                <a:latin typeface="+mn-ea"/>
              </a:rPr>
              <a:t>주제 및 목적</a:t>
            </a:r>
            <a:endParaRPr lang="en-US" altLang="ko-KR" sz="2400" b="1" dirty="0" smtClean="0">
              <a:solidFill>
                <a:srgbClr val="FF3478"/>
              </a:solidFill>
              <a:latin typeface="+mn-ea"/>
            </a:endParaRPr>
          </a:p>
          <a:p>
            <a:pPr eaLnBrk="1" fontAlgn="auto" hangingPunct="1">
              <a:lnSpc>
                <a:spcPct val="200000"/>
              </a:lnSpc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ko-KR" altLang="en-US" sz="2400" b="1" dirty="0" smtClean="0">
                <a:solidFill>
                  <a:srgbClr val="FF3478"/>
                </a:solidFill>
                <a:latin typeface="+mn-ea"/>
              </a:rPr>
              <a:t>개발환경 </a:t>
            </a:r>
            <a:r>
              <a:rPr lang="en-US" altLang="ko-KR" sz="2400" b="1" dirty="0" smtClean="0">
                <a:solidFill>
                  <a:srgbClr val="FF3478"/>
                </a:solidFill>
                <a:latin typeface="+mn-ea"/>
              </a:rPr>
              <a:t>(</a:t>
            </a:r>
            <a:r>
              <a:rPr lang="ko-KR" altLang="en-US" sz="2400" b="1" dirty="0" smtClean="0">
                <a:solidFill>
                  <a:srgbClr val="FF3478"/>
                </a:solidFill>
                <a:latin typeface="+mn-ea"/>
              </a:rPr>
              <a:t>개발리소스</a:t>
            </a:r>
            <a:r>
              <a:rPr lang="en-US" altLang="ko-KR" sz="2400" b="1" dirty="0" smtClean="0">
                <a:solidFill>
                  <a:srgbClr val="FF3478"/>
                </a:solidFill>
                <a:latin typeface="+mn-ea"/>
              </a:rPr>
              <a:t>)</a:t>
            </a:r>
          </a:p>
          <a:p>
            <a:pPr eaLnBrk="1" fontAlgn="auto" hangingPunct="1">
              <a:lnSpc>
                <a:spcPct val="200000"/>
              </a:lnSpc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ko-KR" altLang="en-US" sz="2400" b="1" dirty="0" smtClean="0">
                <a:solidFill>
                  <a:srgbClr val="FF3478"/>
                </a:solidFill>
                <a:latin typeface="+mn-ea"/>
              </a:rPr>
              <a:t>요구사항분석</a:t>
            </a:r>
            <a:endParaRPr lang="en-US" altLang="ko-KR" sz="2400" b="1" dirty="0">
              <a:solidFill>
                <a:srgbClr val="FF3478"/>
              </a:solidFill>
              <a:latin typeface="+mn-ea"/>
            </a:endParaRPr>
          </a:p>
          <a:p>
            <a:pPr eaLnBrk="1" fontAlgn="auto" hangingPunct="1">
              <a:lnSpc>
                <a:spcPct val="200000"/>
              </a:lnSpc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ko-KR" altLang="en-US" sz="2400" b="1" dirty="0" smtClean="0">
                <a:solidFill>
                  <a:srgbClr val="FF3478"/>
                </a:solidFill>
                <a:latin typeface="+mn-ea"/>
              </a:rPr>
              <a:t>업무분담</a:t>
            </a:r>
            <a:endParaRPr lang="en-US" altLang="ko-KR" sz="2400" b="1" dirty="0" smtClean="0">
              <a:solidFill>
                <a:srgbClr val="FF3478"/>
              </a:solidFill>
              <a:latin typeface="+mn-ea"/>
            </a:endParaRPr>
          </a:p>
          <a:p>
            <a:pPr eaLnBrk="1" fontAlgn="auto" hangingPunct="1">
              <a:lnSpc>
                <a:spcPct val="200000"/>
              </a:lnSpc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ko-KR" altLang="en-US" sz="2400" b="1" dirty="0" smtClean="0">
                <a:solidFill>
                  <a:srgbClr val="FF3478"/>
                </a:solidFill>
                <a:latin typeface="+mn-ea"/>
              </a:rPr>
              <a:t>프로젝트 일정계획</a:t>
            </a:r>
            <a:endParaRPr lang="en-US" altLang="ko-KR" sz="2400" b="1" dirty="0" smtClean="0">
              <a:solidFill>
                <a:srgbClr val="FF3478"/>
              </a:solidFill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6678613"/>
            <a:ext cx="9144000" cy="179387"/>
          </a:xfrm>
          <a:prstGeom prst="rect">
            <a:avLst/>
          </a:prstGeom>
          <a:solidFill>
            <a:srgbClr val="FF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2" t="13031" r="13493" b="25694"/>
          <a:stretch/>
        </p:blipFill>
        <p:spPr>
          <a:xfrm>
            <a:off x="8460432" y="6575868"/>
            <a:ext cx="683568" cy="308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" y="115888"/>
            <a:ext cx="1355725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rgbClr val="FF3478"/>
                </a:solidFill>
                <a:latin typeface="+mn-ea"/>
                <a:ea typeface="+mn-ea"/>
              </a:rPr>
              <a:t>주제 및 목적</a:t>
            </a:r>
            <a:endParaRPr lang="ko-KR" altLang="en-US" sz="1200" b="1" dirty="0">
              <a:solidFill>
                <a:srgbClr val="FF3478"/>
              </a:solidFill>
              <a:latin typeface="+mn-ea"/>
              <a:ea typeface="+mn-ea"/>
            </a:endParaRPr>
          </a:p>
        </p:txBody>
      </p:sp>
      <p:sp>
        <p:nvSpPr>
          <p:cNvPr id="5123" name="TextBox 27"/>
          <p:cNvSpPr txBox="1">
            <a:spLocks noChangeArrowheads="1"/>
          </p:cNvSpPr>
          <p:nvPr/>
        </p:nvSpPr>
        <p:spPr bwMode="auto">
          <a:xfrm>
            <a:off x="2946408" y="3831431"/>
            <a:ext cx="36535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lang="ko-KR" altLang="en-US" sz="2400" b="1" dirty="0" smtClean="0">
                <a:solidFill>
                  <a:srgbClr val="FF3478"/>
                </a:solidFill>
                <a:latin typeface="+mn-ea"/>
                <a:ea typeface="+mn-ea"/>
              </a:rPr>
              <a:t>전국 체인 </a:t>
            </a:r>
            <a:r>
              <a:rPr lang="ko-KR" altLang="en-US" sz="2400" b="1" dirty="0" err="1" smtClean="0">
                <a:solidFill>
                  <a:srgbClr val="FF3478"/>
                </a:solidFill>
                <a:latin typeface="+mn-ea"/>
                <a:ea typeface="+mn-ea"/>
              </a:rPr>
              <a:t>게임방</a:t>
            </a:r>
            <a:r>
              <a:rPr lang="en-US" altLang="ko-KR" sz="2400" b="1" dirty="0" smtClean="0">
                <a:solidFill>
                  <a:srgbClr val="FF3478"/>
                </a:solidFill>
                <a:latin typeface="+mn-ea"/>
                <a:ea typeface="+mn-ea"/>
              </a:rPr>
              <a:t>, “</a:t>
            </a:r>
            <a:r>
              <a:rPr lang="ko-KR" altLang="en-US" sz="2400" b="1" dirty="0" smtClean="0">
                <a:solidFill>
                  <a:srgbClr val="FF3478"/>
                </a:solidFill>
                <a:latin typeface="+mn-ea"/>
                <a:ea typeface="+mn-ea"/>
              </a:rPr>
              <a:t>놀자</a:t>
            </a:r>
            <a:r>
              <a:rPr lang="en-US" altLang="ko-KR" sz="2400" b="1" dirty="0" smtClean="0">
                <a:solidFill>
                  <a:srgbClr val="FF3478"/>
                </a:solidFill>
                <a:latin typeface="+mn-ea"/>
                <a:ea typeface="+mn-ea"/>
              </a:rPr>
              <a:t>”</a:t>
            </a:r>
            <a:endParaRPr lang="ko-KR" altLang="en-US" sz="2400" b="1" dirty="0" smtClean="0">
              <a:solidFill>
                <a:srgbClr val="FF3478"/>
              </a:solidFill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83903" y="4293096"/>
            <a:ext cx="67785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 dirty="0" smtClean="0">
                <a:solidFill>
                  <a:srgbClr val="FF3478"/>
                </a:solidFill>
                <a:latin typeface="+mn-ea"/>
                <a:ea typeface="+mn-ea"/>
              </a:rPr>
              <a:t>전국 체인 </a:t>
            </a:r>
            <a:r>
              <a:rPr lang="ko-KR" altLang="en-US" b="1" dirty="0" err="1" smtClean="0">
                <a:solidFill>
                  <a:srgbClr val="FF3478"/>
                </a:solidFill>
                <a:latin typeface="+mn-ea"/>
                <a:ea typeface="+mn-ea"/>
              </a:rPr>
              <a:t>게임방</a:t>
            </a:r>
            <a:r>
              <a:rPr lang="ko-KR" altLang="en-US" b="1" dirty="0" smtClean="0">
                <a:solidFill>
                  <a:srgbClr val="FF3478"/>
                </a:solidFill>
                <a:latin typeface="+mn-ea"/>
                <a:ea typeface="+mn-ea"/>
              </a:rPr>
              <a:t> 예약 및 </a:t>
            </a:r>
            <a:endParaRPr lang="en-US" altLang="ko-KR" b="1" dirty="0" smtClean="0">
              <a:solidFill>
                <a:srgbClr val="FF3478"/>
              </a:solidFill>
              <a:latin typeface="+mn-ea"/>
              <a:ea typeface="+mn-ea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b="1" dirty="0" smtClean="0">
                <a:solidFill>
                  <a:srgbClr val="FF3478"/>
                </a:solidFill>
                <a:latin typeface="+mn-ea"/>
                <a:ea typeface="+mn-ea"/>
              </a:rPr>
              <a:t>온라인 게임을 통한 포인트 적립으로 </a:t>
            </a:r>
            <a:r>
              <a:rPr lang="ko-KR" altLang="en-US" b="1" dirty="0" err="1" smtClean="0">
                <a:solidFill>
                  <a:srgbClr val="FF3478"/>
                </a:solidFill>
                <a:latin typeface="+mn-ea"/>
                <a:ea typeface="+mn-ea"/>
              </a:rPr>
              <a:t>게임방</a:t>
            </a:r>
            <a:r>
              <a:rPr lang="ko-KR" altLang="en-US" b="1" dirty="0" smtClean="0">
                <a:solidFill>
                  <a:srgbClr val="FF3478"/>
                </a:solidFill>
                <a:latin typeface="+mn-ea"/>
                <a:ea typeface="+mn-ea"/>
              </a:rPr>
              <a:t> 결제 할인</a:t>
            </a:r>
            <a:endParaRPr lang="ko-KR" altLang="en-US" b="1" dirty="0">
              <a:solidFill>
                <a:srgbClr val="FF3478"/>
              </a:solidFill>
              <a:latin typeface="+mn-ea"/>
              <a:ea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783548" y="1758256"/>
            <a:ext cx="3816424" cy="16312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100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3478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Jokerman" panose="04090605060D06020702" pitchFamily="82" charset="0"/>
              </a:rPr>
              <a:t>nolja</a:t>
            </a:r>
            <a:endParaRPr lang="en-US" altLang="ko-KR" sz="100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3478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Jokerman" panose="04090605060D060207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" y="115888"/>
            <a:ext cx="1884363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rgbClr val="FF3478"/>
                </a:solidFill>
                <a:latin typeface="+mn-ea"/>
                <a:ea typeface="+mn-ea"/>
              </a:rPr>
              <a:t>개발환경</a:t>
            </a:r>
            <a:r>
              <a:rPr lang="en-US" altLang="ko-KR" sz="1200" b="1" dirty="0">
                <a:solidFill>
                  <a:srgbClr val="FF3478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>
                <a:solidFill>
                  <a:srgbClr val="FF3478"/>
                </a:solidFill>
                <a:latin typeface="+mn-ea"/>
                <a:ea typeface="+mn-ea"/>
              </a:rPr>
              <a:t>개발리소스</a:t>
            </a:r>
            <a:r>
              <a:rPr lang="en-US" altLang="ko-KR" sz="1200" b="1" dirty="0">
                <a:solidFill>
                  <a:srgbClr val="FF3478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rgbClr val="FF3478"/>
              </a:solidFill>
              <a:latin typeface="+mn-ea"/>
              <a:ea typeface="+mn-ea"/>
            </a:endParaRPr>
          </a:p>
        </p:txBody>
      </p:sp>
      <p:grpSp>
        <p:nvGrpSpPr>
          <p:cNvPr id="16" name="그룹 19"/>
          <p:cNvGrpSpPr>
            <a:grpSpLocks/>
          </p:cNvGrpSpPr>
          <p:nvPr/>
        </p:nvGrpSpPr>
        <p:grpSpPr bwMode="auto">
          <a:xfrm>
            <a:off x="841375" y="1125538"/>
            <a:ext cx="7345363" cy="431800"/>
            <a:chOff x="841375" y="1056481"/>
            <a:chExt cx="7344730" cy="432000"/>
          </a:xfrm>
        </p:grpSpPr>
        <p:sp>
          <p:nvSpPr>
            <p:cNvPr id="17" name="직사각형 16"/>
            <p:cNvSpPr/>
            <p:nvPr/>
          </p:nvSpPr>
          <p:spPr>
            <a:xfrm>
              <a:off x="841375" y="1056481"/>
              <a:ext cx="1079407" cy="43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dirty="0" smtClean="0">
                  <a:solidFill>
                    <a:schemeClr val="bg1"/>
                  </a:solidFill>
                  <a:latin typeface="+mn-ea"/>
                </a:rPr>
                <a:t>OS</a:t>
              </a:r>
              <a:endParaRPr kumimoji="0" lang="en-US" altLang="ko-KR" sz="14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2066819" y="1056481"/>
              <a:ext cx="6119286" cy="432000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8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>
                  <a:solidFill>
                    <a:srgbClr val="3F3F48"/>
                  </a:solidFill>
                  <a:latin typeface="+mn-ea"/>
                </a:rPr>
                <a:t>Windows 7 Ultimate K</a:t>
              </a:r>
            </a:p>
          </p:txBody>
        </p:sp>
      </p:grpSp>
      <p:grpSp>
        <p:nvGrpSpPr>
          <p:cNvPr id="21" name="그룹 20"/>
          <p:cNvGrpSpPr>
            <a:grpSpLocks/>
          </p:cNvGrpSpPr>
          <p:nvPr/>
        </p:nvGrpSpPr>
        <p:grpSpPr bwMode="auto">
          <a:xfrm>
            <a:off x="841375" y="2025080"/>
            <a:ext cx="7345363" cy="431800"/>
            <a:chOff x="841375" y="1704181"/>
            <a:chExt cx="7344730" cy="432000"/>
          </a:xfrm>
        </p:grpSpPr>
        <p:sp>
          <p:nvSpPr>
            <p:cNvPr id="22" name="직사각형 21"/>
            <p:cNvSpPr/>
            <p:nvPr/>
          </p:nvSpPr>
          <p:spPr>
            <a:xfrm>
              <a:off x="841375" y="1704181"/>
              <a:ext cx="1079407" cy="43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dirty="0" smtClean="0">
                  <a:solidFill>
                    <a:schemeClr val="bg1"/>
                  </a:solidFill>
                  <a:latin typeface="+mn-ea"/>
                </a:rPr>
                <a:t>WAS</a:t>
              </a:r>
              <a:endParaRPr kumimoji="0" lang="en-US" altLang="ko-KR" sz="14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2066819" y="1704181"/>
              <a:ext cx="6119286" cy="432000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8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>
                  <a:solidFill>
                    <a:srgbClr val="3F3F48"/>
                  </a:solidFill>
                  <a:latin typeface="+mn-ea"/>
                </a:rPr>
                <a:t>Apache Tomcat </a:t>
              </a:r>
              <a:r>
                <a:rPr kumimoji="0" lang="en-US" altLang="ko-KR" sz="1200" dirty="0" smtClean="0">
                  <a:solidFill>
                    <a:srgbClr val="3F3F48"/>
                  </a:solidFill>
                  <a:latin typeface="+mn-ea"/>
                </a:rPr>
                <a:t>8.5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30" name="그룹 24"/>
          <p:cNvGrpSpPr>
            <a:grpSpLocks/>
          </p:cNvGrpSpPr>
          <p:nvPr/>
        </p:nvGrpSpPr>
        <p:grpSpPr bwMode="auto">
          <a:xfrm>
            <a:off x="827088" y="2960936"/>
            <a:ext cx="7345362" cy="431800"/>
            <a:chOff x="827088" y="4174331"/>
            <a:chExt cx="7344730" cy="432000"/>
          </a:xfrm>
        </p:grpSpPr>
        <p:sp>
          <p:nvSpPr>
            <p:cNvPr id="31" name="직사각형 30"/>
            <p:cNvSpPr/>
            <p:nvPr/>
          </p:nvSpPr>
          <p:spPr>
            <a:xfrm>
              <a:off x="827088" y="4174331"/>
              <a:ext cx="1080994" cy="43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 smtClean="0">
                  <a:solidFill>
                    <a:schemeClr val="bg1"/>
                  </a:solidFill>
                  <a:latin typeface="+mn-ea"/>
                </a:rPr>
                <a:t>WEB</a:t>
              </a:r>
              <a:endParaRPr kumimoji="0" lang="en-US" altLang="ko-KR" sz="1400" b="1" spc="-1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052533" y="4174331"/>
              <a:ext cx="6119285" cy="432000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 smtClean="0">
                  <a:solidFill>
                    <a:srgbClr val="3F3F48"/>
                  </a:solidFill>
                  <a:latin typeface="+mn-ea"/>
                </a:rPr>
                <a:t>HTML5, CSS/CSS3, JavaScript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36" name="그룹 26"/>
          <p:cNvGrpSpPr>
            <a:grpSpLocks/>
          </p:cNvGrpSpPr>
          <p:nvPr/>
        </p:nvGrpSpPr>
        <p:grpSpPr bwMode="auto">
          <a:xfrm>
            <a:off x="827088" y="4761136"/>
            <a:ext cx="7364412" cy="900112"/>
            <a:chOff x="827088" y="5229200"/>
            <a:chExt cx="7364600" cy="900000"/>
          </a:xfrm>
        </p:grpSpPr>
        <p:sp>
          <p:nvSpPr>
            <p:cNvPr id="37" name="직사각형 36"/>
            <p:cNvSpPr/>
            <p:nvPr/>
          </p:nvSpPr>
          <p:spPr>
            <a:xfrm>
              <a:off x="2071720" y="5229200"/>
              <a:ext cx="6119968" cy="900000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 smtClean="0">
                  <a:solidFill>
                    <a:srgbClr val="3F3F48"/>
                  </a:solidFill>
                  <a:latin typeface="+mn-ea"/>
                </a:rPr>
                <a:t>JavaScript jquery-1.12.3,   jquery-ui-1.11.4,   jquery-easyui-1.4.5,</a:t>
              </a:r>
            </a:p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200" dirty="0" err="1" smtClean="0">
                  <a:solidFill>
                    <a:srgbClr val="3F3F48"/>
                  </a:solidFill>
                  <a:latin typeface="+mn-ea"/>
                </a:rPr>
                <a:t>네이버</a:t>
              </a:r>
              <a:r>
                <a:rPr kumimoji="0" lang="ko-KR" altLang="en-US" sz="1200" dirty="0" smtClean="0">
                  <a:solidFill>
                    <a:srgbClr val="3F3F48"/>
                  </a:solidFill>
                  <a:latin typeface="+mn-ea"/>
                </a:rPr>
                <a:t> </a:t>
              </a:r>
              <a:r>
                <a:rPr kumimoji="0" lang="en-US" altLang="ko-KR" sz="1200" dirty="0" smtClean="0">
                  <a:solidFill>
                    <a:srgbClr val="3F3F48"/>
                  </a:solidFill>
                  <a:latin typeface="+mn-ea"/>
                </a:rPr>
                <a:t>Smart Editor API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827088" y="5229200"/>
              <a:ext cx="1081115" cy="900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 smtClean="0">
                  <a:solidFill>
                    <a:schemeClr val="bg1"/>
                  </a:solidFill>
                  <a:latin typeface="+mn-ea"/>
                </a:rPr>
                <a:t>Open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 smtClean="0">
                  <a:solidFill>
                    <a:schemeClr val="bg1"/>
                  </a:solidFill>
                  <a:latin typeface="+mn-ea"/>
                </a:rPr>
                <a:t>Source</a:t>
              </a:r>
              <a:endParaRPr kumimoji="0" lang="en-US" altLang="ko-KR" sz="1400" b="1" spc="-1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9" name="그룹 25"/>
          <p:cNvGrpSpPr>
            <a:grpSpLocks/>
          </p:cNvGrpSpPr>
          <p:nvPr/>
        </p:nvGrpSpPr>
        <p:grpSpPr bwMode="auto">
          <a:xfrm>
            <a:off x="827088" y="3895700"/>
            <a:ext cx="7345362" cy="433388"/>
            <a:chOff x="827088" y="4800600"/>
            <a:chExt cx="7344730" cy="432000"/>
          </a:xfrm>
        </p:grpSpPr>
        <p:sp>
          <p:nvSpPr>
            <p:cNvPr id="40" name="직사각형 39"/>
            <p:cNvSpPr/>
            <p:nvPr/>
          </p:nvSpPr>
          <p:spPr>
            <a:xfrm>
              <a:off x="827088" y="4800600"/>
              <a:ext cx="1080994" cy="43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 smtClean="0">
                  <a:solidFill>
                    <a:schemeClr val="bg1"/>
                  </a:solidFill>
                  <a:latin typeface="+mn-ea"/>
                </a:rPr>
                <a:t>Tool</a:t>
              </a:r>
              <a:endParaRPr kumimoji="0" lang="en-US" altLang="ko-KR" sz="1400" b="1" spc="-1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2052533" y="4800600"/>
              <a:ext cx="6119285" cy="432000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>
                  <a:solidFill>
                    <a:srgbClr val="3F3F48"/>
                  </a:solidFill>
                  <a:latin typeface="+mn-ea"/>
                </a:rPr>
                <a:t>Eclipse IDE for Java EE </a:t>
              </a:r>
              <a:r>
                <a:rPr kumimoji="0" lang="en-US" altLang="ko-KR" sz="1200" dirty="0" smtClean="0">
                  <a:solidFill>
                    <a:srgbClr val="3F3F48"/>
                  </a:solidFill>
                  <a:latin typeface="+mn-ea"/>
                </a:rPr>
                <a:t>Developers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" y="115888"/>
            <a:ext cx="1416050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rgbClr val="FF3478"/>
                </a:solidFill>
                <a:latin typeface="+mn-ea"/>
                <a:ea typeface="+mn-ea"/>
              </a:rPr>
              <a:t>요구사항분석</a:t>
            </a:r>
          </a:p>
        </p:txBody>
      </p:sp>
      <p:grpSp>
        <p:nvGrpSpPr>
          <p:cNvPr id="7171" name="그룹 12"/>
          <p:cNvGrpSpPr>
            <a:grpSpLocks/>
          </p:cNvGrpSpPr>
          <p:nvPr/>
        </p:nvGrpSpPr>
        <p:grpSpPr bwMode="auto">
          <a:xfrm>
            <a:off x="684213" y="1052513"/>
            <a:ext cx="7194285" cy="461962"/>
            <a:chOff x="467544" y="1167135"/>
            <a:chExt cx="7194129" cy="461665"/>
          </a:xfrm>
        </p:grpSpPr>
        <p:sp>
          <p:nvSpPr>
            <p:cNvPr id="7199" name="TextBox 2"/>
            <p:cNvSpPr txBox="1">
              <a:spLocks noChangeArrowheads="1"/>
            </p:cNvSpPr>
            <p:nvPr/>
          </p:nvSpPr>
          <p:spPr bwMode="auto">
            <a:xfrm>
              <a:off x="467544" y="1167135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3F3F48"/>
                  </a:solidFill>
                  <a:ea typeface="굴림" charset="-127"/>
                </a:rPr>
                <a:t>1</a:t>
              </a:r>
              <a:endParaRPr lang="ko-KR" altLang="en-US" sz="2400" b="1">
                <a:solidFill>
                  <a:srgbClr val="3F3F48"/>
                </a:solidFill>
                <a:ea typeface="굴림" charset="-127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27899" y="1243286"/>
              <a:ext cx="6833774" cy="30757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전국 체인점 </a:t>
              </a:r>
              <a:r>
                <a:rPr lang="ko-KR" altLang="en-US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게임방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, “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놀자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” 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사이트는 </a:t>
              </a:r>
              <a:r>
                <a:rPr lang="ko-KR" altLang="en-US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게임방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 좌석 예약 및 온라인 게임을 제공한다</a:t>
              </a:r>
              <a:endParaRPr lang="ko-KR" altLang="en-US" sz="1400" b="1" dirty="0">
                <a:solidFill>
                  <a:srgbClr val="3F3F4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172" name="그룹 15"/>
          <p:cNvGrpSpPr>
            <a:grpSpLocks/>
          </p:cNvGrpSpPr>
          <p:nvPr/>
        </p:nvGrpSpPr>
        <p:grpSpPr bwMode="auto">
          <a:xfrm>
            <a:off x="684213" y="1628800"/>
            <a:ext cx="8414170" cy="461963"/>
            <a:chOff x="467544" y="1614503"/>
            <a:chExt cx="8414126" cy="461665"/>
          </a:xfrm>
        </p:grpSpPr>
        <p:sp>
          <p:nvSpPr>
            <p:cNvPr id="7197" name="TextBox 8"/>
            <p:cNvSpPr txBox="1">
              <a:spLocks noChangeArrowheads="1"/>
            </p:cNvSpPr>
            <p:nvPr/>
          </p:nvSpPr>
          <p:spPr bwMode="auto">
            <a:xfrm>
              <a:off x="467544" y="1614503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3F3F48"/>
                  </a:solidFill>
                  <a:ea typeface="굴림" charset="-127"/>
                </a:rPr>
                <a:t>2</a:t>
              </a:r>
              <a:endParaRPr lang="ko-KR" altLang="en-US" sz="2400" b="1">
                <a:solidFill>
                  <a:srgbClr val="3F3F48"/>
                </a:solidFill>
                <a:ea typeface="굴림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7904" y="1690654"/>
              <a:ext cx="8053766" cy="30757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온라인 게임으로 고객에게 재미있는 놀이를 제공하고 게임을 통한 점수는 포인트로 </a:t>
              </a:r>
              <a:r>
                <a:rPr lang="ko-KR" altLang="en-US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적립가능하다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 </a:t>
              </a:r>
              <a:endParaRPr lang="en-US" altLang="ko-KR" sz="1400" b="1" dirty="0">
                <a:solidFill>
                  <a:srgbClr val="3F3F4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173" name="그룹 16"/>
          <p:cNvGrpSpPr>
            <a:grpSpLocks/>
          </p:cNvGrpSpPr>
          <p:nvPr/>
        </p:nvGrpSpPr>
        <p:grpSpPr bwMode="auto">
          <a:xfrm>
            <a:off x="684212" y="2190725"/>
            <a:ext cx="7032380" cy="461963"/>
            <a:chOff x="467544" y="2033461"/>
            <a:chExt cx="7033480" cy="461665"/>
          </a:xfrm>
        </p:grpSpPr>
        <p:sp>
          <p:nvSpPr>
            <p:cNvPr id="7195" name="TextBox 10"/>
            <p:cNvSpPr txBox="1">
              <a:spLocks noChangeArrowheads="1"/>
            </p:cNvSpPr>
            <p:nvPr/>
          </p:nvSpPr>
          <p:spPr bwMode="auto">
            <a:xfrm>
              <a:off x="467544" y="2033461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 dirty="0">
                  <a:solidFill>
                    <a:srgbClr val="3F3F48"/>
                  </a:solidFill>
                  <a:ea typeface="굴림" charset="-127"/>
                </a:rPr>
                <a:t>3</a:t>
              </a:r>
              <a:endParaRPr lang="ko-KR" altLang="en-US" sz="2400" b="1" dirty="0">
                <a:solidFill>
                  <a:srgbClr val="3F3F48"/>
                </a:solidFill>
                <a:ea typeface="굴림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27961" y="2109612"/>
              <a:ext cx="6673063" cy="30757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전국으로 퍼져있는 </a:t>
              </a:r>
              <a:r>
                <a:rPr lang="ko-KR" altLang="en-US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게임방을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 온라인을 통해 </a:t>
              </a:r>
              <a:r>
                <a:rPr lang="ko-KR" altLang="en-US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시간별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 지점별 좌석 예약이 가능하다</a:t>
              </a:r>
              <a:endParaRPr lang="en-US" altLang="ko-KR" sz="1400" b="1" dirty="0">
                <a:solidFill>
                  <a:srgbClr val="3F3F4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174" name="그룹 17"/>
          <p:cNvGrpSpPr>
            <a:grpSpLocks/>
          </p:cNvGrpSpPr>
          <p:nvPr/>
        </p:nvGrpSpPr>
        <p:grpSpPr bwMode="auto">
          <a:xfrm>
            <a:off x="684213" y="2778671"/>
            <a:ext cx="6883302" cy="461962"/>
            <a:chOff x="467544" y="2033461"/>
            <a:chExt cx="6885524" cy="461665"/>
          </a:xfrm>
        </p:grpSpPr>
        <p:sp>
          <p:nvSpPr>
            <p:cNvPr id="7193" name="TextBox 18"/>
            <p:cNvSpPr txBox="1">
              <a:spLocks noChangeArrowheads="1"/>
            </p:cNvSpPr>
            <p:nvPr/>
          </p:nvSpPr>
          <p:spPr bwMode="auto">
            <a:xfrm>
              <a:off x="467544" y="2033461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3F3F48"/>
                  </a:solidFill>
                  <a:ea typeface="굴림" charset="-127"/>
                </a:rPr>
                <a:t>4</a:t>
              </a:r>
              <a:endParaRPr lang="ko-KR" altLang="en-US" sz="2400" b="1">
                <a:solidFill>
                  <a:srgbClr val="3F3F48"/>
                </a:solidFill>
                <a:ea typeface="굴림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28022" y="2109612"/>
              <a:ext cx="6525046" cy="30757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제공되는 게임으로는 두더지게임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틀린그림찾기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 게임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색깔 맞추기 게임 등 이다</a:t>
              </a:r>
              <a:endParaRPr lang="en-US" altLang="ko-KR" sz="1400" b="1" dirty="0">
                <a:solidFill>
                  <a:srgbClr val="3F3F4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175" name="그룹 20"/>
          <p:cNvGrpSpPr>
            <a:grpSpLocks/>
          </p:cNvGrpSpPr>
          <p:nvPr/>
        </p:nvGrpSpPr>
        <p:grpSpPr bwMode="auto">
          <a:xfrm>
            <a:off x="684213" y="3366616"/>
            <a:ext cx="6665294" cy="460375"/>
            <a:chOff x="467544" y="2033461"/>
            <a:chExt cx="6666558" cy="461665"/>
          </a:xfrm>
        </p:grpSpPr>
        <p:sp>
          <p:nvSpPr>
            <p:cNvPr id="7191" name="TextBox 21"/>
            <p:cNvSpPr txBox="1">
              <a:spLocks noChangeArrowheads="1"/>
            </p:cNvSpPr>
            <p:nvPr/>
          </p:nvSpPr>
          <p:spPr bwMode="auto">
            <a:xfrm>
              <a:off x="467544" y="2033461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3F3F48"/>
                  </a:solidFill>
                  <a:ea typeface="굴림" charset="-127"/>
                </a:rPr>
                <a:t>5</a:t>
              </a:r>
              <a:endParaRPr lang="ko-KR" altLang="en-US" sz="2400" b="1">
                <a:solidFill>
                  <a:srgbClr val="3F3F48"/>
                </a:solidFill>
                <a:ea typeface="굴림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27975" y="2109875"/>
              <a:ext cx="6306127" cy="30863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위의 게임은 사용자가 좌석 예약 시 포인트로 일부 또는 전체 결제 가능하다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.</a:t>
              </a:r>
              <a:endParaRPr lang="en-US" altLang="ko-KR" sz="1400" b="1" dirty="0">
                <a:solidFill>
                  <a:srgbClr val="3F3F4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176" name="그룹 23"/>
          <p:cNvGrpSpPr>
            <a:grpSpLocks/>
          </p:cNvGrpSpPr>
          <p:nvPr/>
        </p:nvGrpSpPr>
        <p:grpSpPr bwMode="auto">
          <a:xfrm>
            <a:off x="684213" y="3952974"/>
            <a:ext cx="4126586" cy="461963"/>
            <a:chOff x="467544" y="2033461"/>
            <a:chExt cx="4127342" cy="461665"/>
          </a:xfrm>
        </p:grpSpPr>
        <p:sp>
          <p:nvSpPr>
            <p:cNvPr id="7189" name="TextBox 24"/>
            <p:cNvSpPr txBox="1">
              <a:spLocks noChangeArrowheads="1"/>
            </p:cNvSpPr>
            <p:nvPr/>
          </p:nvSpPr>
          <p:spPr bwMode="auto">
            <a:xfrm>
              <a:off x="467544" y="2033461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3F3F48"/>
                  </a:solidFill>
                  <a:ea typeface="굴림" charset="-127"/>
                </a:rPr>
                <a:t>6</a:t>
              </a:r>
              <a:endParaRPr lang="ko-KR" altLang="en-US" sz="2400" b="1">
                <a:solidFill>
                  <a:srgbClr val="3F3F48"/>
                </a:solidFill>
                <a:ea typeface="굴림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27972" y="2109612"/>
              <a:ext cx="3766914" cy="30757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lang="ko-KR" altLang="en-US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게임방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 사용을 위한 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FAQ 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게시판을 제공한다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.</a:t>
              </a:r>
              <a:endParaRPr lang="en-US" altLang="ko-KR" sz="1400" b="1" dirty="0">
                <a:solidFill>
                  <a:srgbClr val="3F3F4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177" name="그룹 26"/>
          <p:cNvGrpSpPr>
            <a:grpSpLocks/>
          </p:cNvGrpSpPr>
          <p:nvPr/>
        </p:nvGrpSpPr>
        <p:grpSpPr bwMode="auto">
          <a:xfrm>
            <a:off x="684213" y="4540920"/>
            <a:ext cx="4510856" cy="461962"/>
            <a:chOff x="467544" y="2033461"/>
            <a:chExt cx="4511336" cy="461665"/>
          </a:xfrm>
        </p:grpSpPr>
        <p:sp>
          <p:nvSpPr>
            <p:cNvPr id="7187" name="TextBox 27"/>
            <p:cNvSpPr txBox="1">
              <a:spLocks noChangeArrowheads="1"/>
            </p:cNvSpPr>
            <p:nvPr/>
          </p:nvSpPr>
          <p:spPr bwMode="auto">
            <a:xfrm>
              <a:off x="467544" y="2033461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3F3F48"/>
                  </a:solidFill>
                  <a:ea typeface="굴림" charset="-127"/>
                </a:rPr>
                <a:t>7</a:t>
              </a:r>
              <a:endParaRPr lang="ko-KR" altLang="en-US" sz="2400" b="1">
                <a:solidFill>
                  <a:srgbClr val="3F3F48"/>
                </a:solidFill>
                <a:ea typeface="굴림" charset="-127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27944" y="2109612"/>
              <a:ext cx="4150936" cy="30757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로그인 화면과 개인 포인트 확인 화면을 제공한다</a:t>
              </a:r>
              <a:endParaRPr lang="en-US" altLang="ko-KR" sz="1400" b="1" dirty="0">
                <a:solidFill>
                  <a:srgbClr val="3F3F4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178" name="그룹 29"/>
          <p:cNvGrpSpPr>
            <a:grpSpLocks/>
          </p:cNvGrpSpPr>
          <p:nvPr/>
        </p:nvGrpSpPr>
        <p:grpSpPr bwMode="auto">
          <a:xfrm>
            <a:off x="684213" y="5128865"/>
            <a:ext cx="7864340" cy="460375"/>
            <a:chOff x="467544" y="2033461"/>
            <a:chExt cx="7865701" cy="461665"/>
          </a:xfrm>
        </p:grpSpPr>
        <p:sp>
          <p:nvSpPr>
            <p:cNvPr id="7185" name="TextBox 30"/>
            <p:cNvSpPr txBox="1">
              <a:spLocks noChangeArrowheads="1"/>
            </p:cNvSpPr>
            <p:nvPr/>
          </p:nvSpPr>
          <p:spPr bwMode="auto">
            <a:xfrm>
              <a:off x="467544" y="2033461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3F3F48"/>
                  </a:solidFill>
                  <a:ea typeface="굴림" charset="-127"/>
                </a:rPr>
                <a:t>8</a:t>
              </a:r>
              <a:endParaRPr lang="ko-KR" altLang="en-US" sz="2400" b="1">
                <a:solidFill>
                  <a:srgbClr val="3F3F48"/>
                </a:solidFill>
                <a:ea typeface="굴림" charset="-127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27969" y="2109875"/>
              <a:ext cx="7505276" cy="30863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모든 페이지는 일관된 디자인의 </a:t>
              </a:r>
              <a:r>
                <a:rPr lang="en-US" altLang="ko-KR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css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를 공유한다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(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화면 디자인은 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yahoo.com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을 </a:t>
              </a:r>
              <a:r>
                <a:rPr lang="ko-KR" altLang="en-US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밴치마킹한다</a:t>
              </a:r>
              <a:r>
                <a:rPr lang="en-US" altLang="ko-KR" sz="1400" b="1" smtClean="0">
                  <a:solidFill>
                    <a:srgbClr val="3F3F48"/>
                  </a:solidFill>
                  <a:latin typeface="+mn-ea"/>
                  <a:ea typeface="+mn-ea"/>
                </a:rPr>
                <a:t>)</a:t>
              </a:r>
              <a:endParaRPr lang="en-US" altLang="ko-KR" sz="1400" b="1" dirty="0">
                <a:solidFill>
                  <a:srgbClr val="3F3F48"/>
                </a:solidFill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" y="115888"/>
            <a:ext cx="1077913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rgbClr val="FF3478"/>
                </a:solidFill>
                <a:latin typeface="+mn-ea"/>
                <a:ea typeface="+mn-ea"/>
              </a:rPr>
              <a:t>업무 분담</a:t>
            </a:r>
            <a:endParaRPr lang="ko-KR" altLang="en-US" sz="1200" b="1" dirty="0">
              <a:solidFill>
                <a:srgbClr val="FF3478"/>
              </a:solidFill>
              <a:latin typeface="+mn-ea"/>
              <a:ea typeface="+mn-ea"/>
            </a:endParaRPr>
          </a:p>
        </p:txBody>
      </p:sp>
      <p:grpSp>
        <p:nvGrpSpPr>
          <p:cNvPr id="19459" name="그룹 4"/>
          <p:cNvGrpSpPr>
            <a:grpSpLocks/>
          </p:cNvGrpSpPr>
          <p:nvPr/>
        </p:nvGrpSpPr>
        <p:grpSpPr bwMode="auto">
          <a:xfrm>
            <a:off x="684213" y="1052513"/>
            <a:ext cx="3419475" cy="2413000"/>
            <a:chOff x="683568" y="908720"/>
            <a:chExt cx="3420000" cy="2412048"/>
          </a:xfrm>
        </p:grpSpPr>
        <p:sp>
          <p:nvSpPr>
            <p:cNvPr id="2" name="직사각형 1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FF34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b="1" smtClean="0"/>
                <a:t>김도</a:t>
              </a:r>
              <a:r>
                <a:rPr lang="ko-KR" altLang="en-US" sz="1400" b="1"/>
                <a:t>현</a:t>
              </a:r>
              <a:endParaRPr lang="ko-KR" altLang="en-US" sz="1400" b="1" dirty="0"/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683568" y="1340350"/>
              <a:ext cx="3420000" cy="1980418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19460" name="그룹 8"/>
          <p:cNvGrpSpPr>
            <a:grpSpLocks/>
          </p:cNvGrpSpPr>
          <p:nvPr/>
        </p:nvGrpSpPr>
        <p:grpSpPr bwMode="auto">
          <a:xfrm>
            <a:off x="4643438" y="1052513"/>
            <a:ext cx="3421062" cy="2413000"/>
            <a:chOff x="683568" y="908720"/>
            <a:chExt cx="3420000" cy="2412048"/>
          </a:xfrm>
        </p:grpSpPr>
        <p:sp>
          <p:nvSpPr>
            <p:cNvPr id="10" name="직사각형 9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FF34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b="1" dirty="0" smtClean="0"/>
                <a:t>윤은</a:t>
              </a:r>
              <a:r>
                <a:rPr lang="ko-KR" altLang="en-US" sz="1400" b="1" dirty="0"/>
                <a:t>혜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83568" y="1340350"/>
              <a:ext cx="3420000" cy="1980418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752975" y="1557338"/>
            <a:ext cx="3348038" cy="13388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100" b="1" dirty="0">
                <a:solidFill>
                  <a:srgbClr val="3F3F48"/>
                </a:solidFill>
                <a:latin typeface="+mn-ea"/>
                <a:ea typeface="+mn-ea"/>
              </a:rPr>
              <a:t>■ </a:t>
            </a:r>
            <a:r>
              <a:rPr lang="ko-KR" altLang="en-US" sz="1100" b="1" dirty="0" smtClean="0">
                <a:solidFill>
                  <a:srgbClr val="3F3F48"/>
                </a:solidFill>
                <a:latin typeface="+mn-ea"/>
                <a:ea typeface="+mn-ea"/>
              </a:rPr>
              <a:t>발</a:t>
            </a:r>
            <a:r>
              <a:rPr lang="ko-KR" altLang="en-US" sz="1100" b="1" dirty="0">
                <a:solidFill>
                  <a:srgbClr val="3F3F48"/>
                </a:solidFill>
                <a:latin typeface="+mn-ea"/>
                <a:ea typeface="+mn-ea"/>
              </a:rPr>
              <a:t>표</a:t>
            </a:r>
            <a:endParaRPr lang="en-US" altLang="ko-KR" sz="1000" dirty="0">
              <a:solidFill>
                <a:srgbClr val="3F3F48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1000" dirty="0">
                <a:solidFill>
                  <a:srgbClr val="3F3F48"/>
                </a:solidFill>
                <a:latin typeface="+mn-ea"/>
                <a:ea typeface="+mn-ea"/>
              </a:rPr>
              <a:t>  - </a:t>
            </a:r>
            <a:r>
              <a:rPr lang="ko-KR" altLang="en-US" sz="1000" dirty="0" smtClean="0">
                <a:solidFill>
                  <a:srgbClr val="3F3F48"/>
                </a:solidFill>
                <a:latin typeface="+mn-ea"/>
                <a:ea typeface="+mn-ea"/>
              </a:rPr>
              <a:t>모든 발표 및 </a:t>
            </a:r>
            <a:r>
              <a:rPr lang="en-US" altLang="ko-KR" sz="1000" dirty="0" err="1" smtClean="0">
                <a:solidFill>
                  <a:srgbClr val="3F3F48"/>
                </a:solidFill>
                <a:latin typeface="+mn-ea"/>
                <a:ea typeface="+mn-ea"/>
              </a:rPr>
              <a:t>ppt</a:t>
            </a:r>
            <a:endParaRPr lang="en-US" altLang="ko-KR" sz="1000" dirty="0" smtClean="0">
              <a:solidFill>
                <a:srgbClr val="3F3F48"/>
              </a:solidFill>
              <a:latin typeface="+mn-ea"/>
              <a:ea typeface="+mn-ea"/>
            </a:endParaRPr>
          </a:p>
          <a:p>
            <a:pPr>
              <a:defRPr/>
            </a:pPr>
            <a:endParaRPr lang="en-US" altLang="ko-KR" sz="1000" dirty="0">
              <a:solidFill>
                <a:srgbClr val="3F3F48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1000" b="1" dirty="0" smtClean="0">
                <a:solidFill>
                  <a:srgbClr val="3F3F48"/>
                </a:solidFill>
                <a:latin typeface="+mn-ea"/>
              </a:rPr>
              <a:t>■ 게임페이지 구</a:t>
            </a:r>
            <a:r>
              <a:rPr lang="ko-KR" altLang="en-US" sz="1000" b="1" dirty="0">
                <a:solidFill>
                  <a:srgbClr val="3F3F48"/>
                </a:solidFill>
                <a:latin typeface="+mn-ea"/>
              </a:rPr>
              <a:t>현</a:t>
            </a:r>
            <a:endParaRPr lang="en-US" altLang="ko-KR" sz="1000" b="1" dirty="0">
              <a:solidFill>
                <a:srgbClr val="3F3F48"/>
              </a:solidFill>
              <a:latin typeface="+mn-ea"/>
            </a:endParaRPr>
          </a:p>
          <a:p>
            <a:pPr>
              <a:defRPr/>
            </a:pPr>
            <a:r>
              <a:rPr lang="en-US" altLang="ko-KR" sz="1000" dirty="0" smtClean="0">
                <a:solidFill>
                  <a:srgbClr val="3F3F48"/>
                </a:solidFill>
                <a:latin typeface="+mn-ea"/>
              </a:rPr>
              <a:t>  - </a:t>
            </a:r>
            <a:r>
              <a:rPr lang="ko-KR" altLang="en-US" sz="1000" dirty="0" smtClean="0">
                <a:solidFill>
                  <a:srgbClr val="3F3F48"/>
                </a:solidFill>
                <a:latin typeface="+mn-ea"/>
              </a:rPr>
              <a:t>두더지 게임</a:t>
            </a:r>
            <a:endParaRPr lang="en-US" altLang="ko-KR" sz="1000" dirty="0" smtClean="0">
              <a:solidFill>
                <a:srgbClr val="3F3F48"/>
              </a:solidFill>
              <a:latin typeface="+mn-ea"/>
            </a:endParaRPr>
          </a:p>
          <a:p>
            <a:pPr>
              <a:defRPr/>
            </a:pPr>
            <a:endParaRPr lang="en-US" altLang="ko-KR" sz="1000" dirty="0" smtClean="0">
              <a:solidFill>
                <a:srgbClr val="3F3F48"/>
              </a:solidFill>
              <a:latin typeface="+mn-ea"/>
            </a:endParaRPr>
          </a:p>
          <a:p>
            <a:pPr>
              <a:defRPr/>
            </a:pPr>
            <a:r>
              <a:rPr lang="ko-KR" altLang="en-US" sz="1000" b="1" dirty="0">
                <a:solidFill>
                  <a:srgbClr val="3F3F48"/>
                </a:solidFill>
                <a:latin typeface="+mn-ea"/>
              </a:rPr>
              <a:t>■ </a:t>
            </a:r>
            <a:r>
              <a:rPr lang="ko-KR" altLang="en-US" sz="1000" b="1" dirty="0" smtClean="0">
                <a:solidFill>
                  <a:srgbClr val="3F3F48"/>
                </a:solidFill>
                <a:latin typeface="+mn-ea"/>
              </a:rPr>
              <a:t>통합 및 테스트</a:t>
            </a:r>
            <a:endParaRPr lang="en-US" altLang="ko-KR" sz="1000" b="1" dirty="0" smtClean="0">
              <a:solidFill>
                <a:srgbClr val="3F3F48"/>
              </a:solidFill>
              <a:latin typeface="+mn-ea"/>
            </a:endParaRPr>
          </a:p>
          <a:p>
            <a:pPr>
              <a:defRPr/>
            </a:pPr>
            <a:r>
              <a:rPr lang="en-US" altLang="ko-KR" sz="1000" dirty="0">
                <a:solidFill>
                  <a:srgbClr val="3F3F48"/>
                </a:solidFill>
                <a:latin typeface="+mn-ea"/>
              </a:rPr>
              <a:t> </a:t>
            </a:r>
            <a:r>
              <a:rPr lang="en-US" altLang="ko-KR" sz="1000" dirty="0" smtClean="0">
                <a:solidFill>
                  <a:srgbClr val="3F3F48"/>
                </a:solidFill>
                <a:latin typeface="+mn-ea"/>
              </a:rPr>
              <a:t> - </a:t>
            </a:r>
            <a:r>
              <a:rPr lang="ko-KR" altLang="en-US" sz="1000" dirty="0" smtClean="0">
                <a:solidFill>
                  <a:srgbClr val="3F3F48"/>
                </a:solidFill>
                <a:latin typeface="+mn-ea"/>
              </a:rPr>
              <a:t>통합 테스트</a:t>
            </a:r>
            <a:endParaRPr lang="en-US" altLang="ko-KR" sz="1000" b="1" dirty="0" smtClean="0">
              <a:solidFill>
                <a:srgbClr val="3F3F48"/>
              </a:solidFill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2163" y="1484313"/>
            <a:ext cx="3419475" cy="140038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100" b="1" dirty="0">
                <a:solidFill>
                  <a:srgbClr val="3F3F48"/>
                </a:solidFill>
                <a:latin typeface="+mn-lt"/>
              </a:rPr>
              <a:t>■ </a:t>
            </a:r>
            <a:r>
              <a:rPr lang="ko-KR" altLang="en-US" sz="1100" b="1" dirty="0" smtClean="0">
                <a:solidFill>
                  <a:srgbClr val="3F3F48"/>
                </a:solidFill>
                <a:latin typeface="+mn-lt"/>
              </a:rPr>
              <a:t>팀</a:t>
            </a:r>
            <a:r>
              <a:rPr lang="ko-KR" altLang="en-US" sz="1100" b="1" dirty="0">
                <a:solidFill>
                  <a:srgbClr val="3F3F48"/>
                </a:solidFill>
                <a:latin typeface="+mn-lt"/>
              </a:rPr>
              <a:t>장</a:t>
            </a:r>
            <a:endParaRPr lang="en-US" altLang="ko-KR" sz="1100" dirty="0">
              <a:solidFill>
                <a:srgbClr val="3F3F48"/>
              </a:solidFill>
              <a:latin typeface="+mn-lt"/>
            </a:endParaRPr>
          </a:p>
          <a:p>
            <a:pPr>
              <a:defRPr/>
            </a:pPr>
            <a:r>
              <a:rPr lang="en-US" altLang="ko-KR" sz="1100" dirty="0" smtClean="0">
                <a:solidFill>
                  <a:srgbClr val="3F3F48"/>
                </a:solidFill>
                <a:latin typeface="+mn-ea"/>
              </a:rPr>
              <a:t>  </a:t>
            </a:r>
            <a:r>
              <a:rPr lang="en-US" altLang="ko-KR" sz="1100" dirty="0">
                <a:solidFill>
                  <a:srgbClr val="3F3F48"/>
                </a:solidFill>
                <a:latin typeface="+mn-ea"/>
              </a:rPr>
              <a:t>-</a:t>
            </a:r>
            <a:r>
              <a:rPr lang="ko-KR" altLang="en-US" sz="1100" dirty="0">
                <a:solidFill>
                  <a:srgbClr val="3F3F48"/>
                </a:solidFill>
                <a:latin typeface="+mn-ea"/>
              </a:rPr>
              <a:t> </a:t>
            </a:r>
            <a:r>
              <a:rPr lang="ko-KR" altLang="en-US" sz="1100" dirty="0" smtClean="0">
                <a:solidFill>
                  <a:srgbClr val="3F3F48"/>
                </a:solidFill>
                <a:latin typeface="+mn-ea"/>
              </a:rPr>
              <a:t>기획 및 프로젝트 진행 컨트롤</a:t>
            </a:r>
            <a:endParaRPr lang="en-US" altLang="ko-KR" sz="1100" dirty="0">
              <a:solidFill>
                <a:srgbClr val="3F3F48"/>
              </a:solidFill>
              <a:latin typeface="+mn-ea"/>
            </a:endParaRPr>
          </a:p>
          <a:p>
            <a:pPr>
              <a:defRPr/>
            </a:pPr>
            <a:endParaRPr lang="en-US" altLang="ko-KR" sz="1000" dirty="0">
              <a:solidFill>
                <a:srgbClr val="3F3F48"/>
              </a:solidFill>
              <a:latin typeface="+mn-ea"/>
            </a:endParaRPr>
          </a:p>
          <a:p>
            <a:pPr>
              <a:defRPr/>
            </a:pPr>
            <a:r>
              <a:rPr lang="ko-KR" altLang="en-US" sz="1100" b="1" dirty="0">
                <a:solidFill>
                  <a:srgbClr val="3F3F48"/>
                </a:solidFill>
                <a:latin typeface="+mn-ea"/>
              </a:rPr>
              <a:t>■ </a:t>
            </a:r>
            <a:r>
              <a:rPr lang="ko-KR" altLang="en-US" sz="1100" b="1" dirty="0" err="1" smtClean="0">
                <a:solidFill>
                  <a:srgbClr val="3F3F48"/>
                </a:solidFill>
                <a:latin typeface="+mn-ea"/>
              </a:rPr>
              <a:t>메인페이지</a:t>
            </a:r>
            <a:r>
              <a:rPr lang="ko-KR" altLang="en-US" sz="1100" b="1" dirty="0" smtClean="0">
                <a:solidFill>
                  <a:srgbClr val="3F3F48"/>
                </a:solidFill>
                <a:latin typeface="+mn-ea"/>
              </a:rPr>
              <a:t> 작성</a:t>
            </a:r>
            <a:endParaRPr lang="en-US" altLang="ko-KR" sz="1100" b="1" dirty="0" smtClean="0">
              <a:solidFill>
                <a:srgbClr val="3F3F48"/>
              </a:solidFill>
              <a:latin typeface="+mn-ea"/>
            </a:endParaRPr>
          </a:p>
          <a:p>
            <a:pPr>
              <a:defRPr/>
            </a:pPr>
            <a:endParaRPr lang="en-US" altLang="ko-KR" sz="1100" b="1" dirty="0">
              <a:solidFill>
                <a:srgbClr val="3F3F48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1100" b="1" dirty="0" smtClean="0">
                <a:solidFill>
                  <a:srgbClr val="3F3F48"/>
                </a:solidFill>
                <a:latin typeface="+mn-ea"/>
                <a:ea typeface="+mn-ea"/>
              </a:rPr>
              <a:t>■ 게임 페이지 작성</a:t>
            </a:r>
            <a:endParaRPr lang="en-US" altLang="ko-KR" sz="1100" b="1" dirty="0" smtClean="0">
              <a:solidFill>
                <a:srgbClr val="3F3F48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1000" dirty="0" smtClean="0">
                <a:solidFill>
                  <a:srgbClr val="3F3F48"/>
                </a:solidFill>
                <a:latin typeface="+mn-ea"/>
                <a:ea typeface="+mn-ea"/>
              </a:rPr>
              <a:t>  </a:t>
            </a:r>
            <a:r>
              <a:rPr lang="en-US" altLang="ko-KR" sz="1000" dirty="0">
                <a:solidFill>
                  <a:srgbClr val="3F3F48"/>
                </a:solidFill>
                <a:latin typeface="+mn-ea"/>
                <a:ea typeface="+mn-ea"/>
              </a:rPr>
              <a:t>-</a:t>
            </a:r>
            <a:r>
              <a:rPr lang="ko-KR" altLang="en-US" sz="1000" dirty="0">
                <a:solidFill>
                  <a:srgbClr val="3F3F48"/>
                </a:solidFill>
                <a:latin typeface="+mn-ea"/>
                <a:ea typeface="+mn-ea"/>
              </a:rPr>
              <a:t> </a:t>
            </a:r>
            <a:r>
              <a:rPr lang="ko-KR" altLang="en-US" sz="1000" dirty="0" smtClean="0">
                <a:solidFill>
                  <a:srgbClr val="3F3F48"/>
                </a:solidFill>
                <a:latin typeface="+mn-ea"/>
                <a:ea typeface="+mn-ea"/>
              </a:rPr>
              <a:t>색깔 맞추기</a:t>
            </a:r>
            <a:endParaRPr lang="en-US" altLang="ko-KR" sz="1000" dirty="0">
              <a:solidFill>
                <a:srgbClr val="3F3F48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1000" dirty="0">
                <a:solidFill>
                  <a:srgbClr val="3F3F48"/>
                </a:solidFill>
                <a:latin typeface="+mn-ea"/>
                <a:ea typeface="+mn-ea"/>
              </a:rPr>
              <a:t>  - </a:t>
            </a:r>
            <a:r>
              <a:rPr lang="ko-KR" altLang="en-US" sz="1000" dirty="0" smtClean="0">
                <a:solidFill>
                  <a:srgbClr val="3F3F48"/>
                </a:solidFill>
                <a:latin typeface="+mn-ea"/>
                <a:ea typeface="+mn-ea"/>
              </a:rPr>
              <a:t>틀린 그림 찾기 게임</a:t>
            </a:r>
            <a:endParaRPr lang="en-US" altLang="ko-KR" sz="1000" dirty="0">
              <a:solidFill>
                <a:srgbClr val="3F3F48"/>
              </a:solidFill>
              <a:latin typeface="+mn-ea"/>
              <a:ea typeface="+mn-ea"/>
            </a:endParaRPr>
          </a:p>
        </p:txBody>
      </p:sp>
      <p:grpSp>
        <p:nvGrpSpPr>
          <p:cNvPr id="22" name="그룹 4"/>
          <p:cNvGrpSpPr>
            <a:grpSpLocks/>
          </p:cNvGrpSpPr>
          <p:nvPr/>
        </p:nvGrpSpPr>
        <p:grpSpPr bwMode="auto">
          <a:xfrm>
            <a:off x="683568" y="3645024"/>
            <a:ext cx="3419475" cy="2413000"/>
            <a:chOff x="683568" y="908720"/>
            <a:chExt cx="3420000" cy="2412048"/>
          </a:xfrm>
        </p:grpSpPr>
        <p:sp>
          <p:nvSpPr>
            <p:cNvPr id="23" name="직사각형 22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FF34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b="1" dirty="0" smtClean="0"/>
                <a:t>이소</a:t>
              </a:r>
              <a:r>
                <a:rPr lang="ko-KR" altLang="en-US" sz="1400" b="1" dirty="0"/>
                <a:t>영</a:t>
              </a: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83568" y="1340350"/>
              <a:ext cx="3420000" cy="1980418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25" name="그룹 8"/>
          <p:cNvGrpSpPr>
            <a:grpSpLocks/>
          </p:cNvGrpSpPr>
          <p:nvPr/>
        </p:nvGrpSpPr>
        <p:grpSpPr bwMode="auto">
          <a:xfrm>
            <a:off x="4642793" y="3645024"/>
            <a:ext cx="3421062" cy="2413000"/>
            <a:chOff x="683568" y="908720"/>
            <a:chExt cx="3420000" cy="2412048"/>
          </a:xfrm>
        </p:grpSpPr>
        <p:sp>
          <p:nvSpPr>
            <p:cNvPr id="26" name="직사각형 25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FF34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b="1" dirty="0" smtClean="0"/>
                <a:t>황원</a:t>
              </a:r>
              <a:r>
                <a:rPr lang="ko-KR" altLang="en-US" sz="1400" b="1" dirty="0"/>
                <a:t>준</a:t>
              </a: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683568" y="1340350"/>
              <a:ext cx="3420000" cy="1980418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4752330" y="4149849"/>
            <a:ext cx="3348038" cy="4154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100" b="1" dirty="0">
                <a:solidFill>
                  <a:srgbClr val="3F3F48"/>
                </a:solidFill>
                <a:latin typeface="+mn-ea"/>
                <a:ea typeface="+mn-ea"/>
              </a:rPr>
              <a:t>■ </a:t>
            </a:r>
            <a:r>
              <a:rPr lang="ko-KR" altLang="en-US" sz="1100" b="1" dirty="0" smtClean="0">
                <a:solidFill>
                  <a:srgbClr val="3F3F48"/>
                </a:solidFill>
                <a:latin typeface="+mn-ea"/>
                <a:ea typeface="+mn-ea"/>
              </a:rPr>
              <a:t>게임페이지 구현</a:t>
            </a:r>
            <a:endParaRPr lang="en-US" altLang="ko-KR" sz="1100" b="1" dirty="0" smtClean="0">
              <a:solidFill>
                <a:srgbClr val="3F3F48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1000" dirty="0" smtClean="0">
                <a:solidFill>
                  <a:srgbClr val="3F3F48"/>
                </a:solidFill>
                <a:latin typeface="+mn-ea"/>
                <a:ea typeface="+mn-ea"/>
              </a:rPr>
              <a:t>  </a:t>
            </a:r>
            <a:r>
              <a:rPr lang="en-US" altLang="ko-KR" sz="1000" dirty="0">
                <a:solidFill>
                  <a:srgbClr val="3F3F48"/>
                </a:solidFill>
                <a:latin typeface="+mn-ea"/>
                <a:ea typeface="+mn-ea"/>
              </a:rPr>
              <a:t>- </a:t>
            </a:r>
            <a:r>
              <a:rPr lang="ko-KR" altLang="en-US" sz="1000" dirty="0" smtClean="0">
                <a:solidFill>
                  <a:srgbClr val="3F3F48"/>
                </a:solidFill>
                <a:latin typeface="+mn-ea"/>
                <a:ea typeface="+mn-ea"/>
              </a:rPr>
              <a:t>카드 뒤집기 게임 </a:t>
            </a:r>
            <a:r>
              <a:rPr lang="ko-KR" altLang="en-US" sz="1000" dirty="0" smtClean="0">
                <a:solidFill>
                  <a:srgbClr val="3F3F48"/>
                </a:solidFill>
                <a:latin typeface="+mn-ea"/>
                <a:ea typeface="+mn-ea"/>
              </a:rPr>
              <a:t>구현</a:t>
            </a:r>
            <a:endParaRPr lang="en-US" altLang="ko-KR" sz="1000" dirty="0">
              <a:solidFill>
                <a:srgbClr val="3F3F48"/>
              </a:solidFill>
              <a:latin typeface="+mn-ea"/>
              <a:ea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1518" y="4076824"/>
            <a:ext cx="3419475" cy="140038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100" b="1" dirty="0">
                <a:solidFill>
                  <a:srgbClr val="3F3F48"/>
                </a:solidFill>
                <a:latin typeface="+mn-ea"/>
              </a:rPr>
              <a:t>■ </a:t>
            </a:r>
            <a:r>
              <a:rPr lang="ko-KR" altLang="en-US" sz="1100" b="1" dirty="0" smtClean="0">
                <a:solidFill>
                  <a:srgbClr val="3F3F48"/>
                </a:solidFill>
                <a:latin typeface="+mn-ea"/>
              </a:rPr>
              <a:t>메인 페이지 작성</a:t>
            </a:r>
            <a:endParaRPr lang="en-US" altLang="ko-KR" sz="1100" b="1" dirty="0" smtClean="0">
              <a:solidFill>
                <a:srgbClr val="3F3F48"/>
              </a:solidFill>
              <a:latin typeface="+mn-ea"/>
            </a:endParaRPr>
          </a:p>
          <a:p>
            <a:pPr>
              <a:defRPr/>
            </a:pPr>
            <a:r>
              <a:rPr lang="en-US" altLang="ko-KR" sz="1100" dirty="0" smtClean="0">
                <a:solidFill>
                  <a:srgbClr val="3F3F48"/>
                </a:solidFill>
                <a:latin typeface="+mn-ea"/>
              </a:rPr>
              <a:t> </a:t>
            </a:r>
            <a:r>
              <a:rPr lang="en-US" altLang="ko-KR" sz="1100" dirty="0">
                <a:solidFill>
                  <a:srgbClr val="3F3F48"/>
                </a:solidFill>
                <a:latin typeface="+mn-ea"/>
              </a:rPr>
              <a:t>-</a:t>
            </a:r>
            <a:r>
              <a:rPr lang="ko-KR" altLang="en-US" sz="1100" dirty="0">
                <a:solidFill>
                  <a:srgbClr val="3F3F48"/>
                </a:solidFill>
                <a:latin typeface="+mn-ea"/>
              </a:rPr>
              <a:t> </a:t>
            </a:r>
            <a:r>
              <a:rPr lang="en-US" altLang="ko-KR" sz="1100" dirty="0" smtClean="0">
                <a:solidFill>
                  <a:srgbClr val="3F3F48"/>
                </a:solidFill>
                <a:latin typeface="+mn-ea"/>
              </a:rPr>
              <a:t> yahoo.com</a:t>
            </a:r>
            <a:r>
              <a:rPr lang="ko-KR" altLang="en-US" sz="1100" dirty="0" smtClean="0">
                <a:solidFill>
                  <a:srgbClr val="3F3F48"/>
                </a:solidFill>
                <a:latin typeface="+mn-ea"/>
              </a:rPr>
              <a:t>을 </a:t>
            </a:r>
            <a:r>
              <a:rPr lang="ko-KR" altLang="en-US" sz="1100" dirty="0" err="1" smtClean="0">
                <a:solidFill>
                  <a:srgbClr val="3F3F48"/>
                </a:solidFill>
                <a:latin typeface="+mn-ea"/>
              </a:rPr>
              <a:t>밴치마킹</a:t>
            </a:r>
            <a:endParaRPr lang="en-US" altLang="ko-KR" sz="1100" dirty="0" smtClean="0">
              <a:solidFill>
                <a:srgbClr val="3F3F48"/>
              </a:solidFill>
              <a:latin typeface="+mn-ea"/>
            </a:endParaRPr>
          </a:p>
          <a:p>
            <a:pPr>
              <a:defRPr/>
            </a:pPr>
            <a:endParaRPr lang="en-US" altLang="ko-KR" sz="1100" b="1" dirty="0">
              <a:solidFill>
                <a:srgbClr val="3F3F48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1100" b="1" dirty="0" smtClean="0">
                <a:solidFill>
                  <a:srgbClr val="3F3F48"/>
                </a:solidFill>
                <a:latin typeface="+mn-ea"/>
                <a:ea typeface="+mn-ea"/>
              </a:rPr>
              <a:t>■ 좌석 예약 구현</a:t>
            </a:r>
            <a:endParaRPr lang="en-US" altLang="ko-KR" sz="1100" b="1" dirty="0" smtClean="0">
              <a:solidFill>
                <a:srgbClr val="3F3F48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1000" dirty="0" smtClean="0">
                <a:solidFill>
                  <a:srgbClr val="3F3F48"/>
                </a:solidFill>
                <a:latin typeface="+mn-ea"/>
                <a:ea typeface="+mn-ea"/>
              </a:rPr>
              <a:t>  </a:t>
            </a:r>
            <a:r>
              <a:rPr lang="en-US" altLang="ko-KR" sz="1000" dirty="0">
                <a:solidFill>
                  <a:srgbClr val="3F3F48"/>
                </a:solidFill>
                <a:latin typeface="+mn-ea"/>
                <a:ea typeface="+mn-ea"/>
              </a:rPr>
              <a:t>-</a:t>
            </a:r>
            <a:r>
              <a:rPr lang="ko-KR" altLang="en-US" sz="1000" dirty="0">
                <a:solidFill>
                  <a:srgbClr val="3F3F48"/>
                </a:solidFill>
                <a:latin typeface="+mn-ea"/>
                <a:ea typeface="+mn-ea"/>
              </a:rPr>
              <a:t> </a:t>
            </a:r>
            <a:r>
              <a:rPr lang="en-US" altLang="ko-KR" sz="1000" dirty="0" smtClean="0">
                <a:solidFill>
                  <a:srgbClr val="3F3F48"/>
                </a:solidFill>
                <a:latin typeface="+mn-ea"/>
                <a:ea typeface="+mn-ea"/>
              </a:rPr>
              <a:t> </a:t>
            </a:r>
            <a:r>
              <a:rPr lang="ko-KR" altLang="en-US" sz="1000" dirty="0" smtClean="0">
                <a:solidFill>
                  <a:srgbClr val="3F3F48"/>
                </a:solidFill>
                <a:latin typeface="+mn-ea"/>
                <a:ea typeface="+mn-ea"/>
              </a:rPr>
              <a:t>날짜</a:t>
            </a:r>
            <a:r>
              <a:rPr lang="en-US" altLang="ko-KR" sz="1000" dirty="0" smtClean="0">
                <a:solidFill>
                  <a:srgbClr val="3F3F48"/>
                </a:solidFill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solidFill>
                  <a:srgbClr val="3F3F48"/>
                </a:solidFill>
                <a:latin typeface="+mn-ea"/>
                <a:ea typeface="+mn-ea"/>
              </a:rPr>
              <a:t>시간</a:t>
            </a:r>
            <a:r>
              <a:rPr lang="en-US" altLang="ko-KR" sz="1000" dirty="0" smtClean="0">
                <a:solidFill>
                  <a:srgbClr val="3F3F48"/>
                </a:solidFill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solidFill>
                  <a:srgbClr val="3F3F48"/>
                </a:solidFill>
                <a:latin typeface="+mn-ea"/>
                <a:ea typeface="+mn-ea"/>
              </a:rPr>
              <a:t>지점</a:t>
            </a:r>
            <a:r>
              <a:rPr lang="en-US" altLang="ko-KR" sz="1000" dirty="0" smtClean="0">
                <a:solidFill>
                  <a:srgbClr val="3F3F48"/>
                </a:solidFill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solidFill>
                  <a:srgbClr val="3F3F48"/>
                </a:solidFill>
                <a:latin typeface="+mn-ea"/>
                <a:ea typeface="+mn-ea"/>
              </a:rPr>
              <a:t>좌석 예약</a:t>
            </a:r>
            <a:endParaRPr lang="en-US" altLang="ko-KR" sz="1000" dirty="0">
              <a:solidFill>
                <a:srgbClr val="3F3F48"/>
              </a:solidFill>
              <a:latin typeface="+mn-ea"/>
              <a:ea typeface="+mn-ea"/>
            </a:endParaRPr>
          </a:p>
          <a:p>
            <a:pPr>
              <a:defRPr/>
            </a:pPr>
            <a:endParaRPr lang="en-US" altLang="ko-KR" sz="1000" dirty="0">
              <a:solidFill>
                <a:srgbClr val="3F3F48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1100" b="1" dirty="0">
                <a:solidFill>
                  <a:srgbClr val="3F3F48"/>
                </a:solidFill>
                <a:latin typeface="+mn-ea"/>
                <a:ea typeface="+mn-ea"/>
              </a:rPr>
              <a:t>■ </a:t>
            </a:r>
            <a:r>
              <a:rPr lang="ko-KR" altLang="en-US" sz="1100" b="1" dirty="0" smtClean="0">
                <a:solidFill>
                  <a:srgbClr val="3F3F48"/>
                </a:solidFill>
                <a:latin typeface="+mn-ea"/>
                <a:ea typeface="+mn-ea"/>
              </a:rPr>
              <a:t>회원관련 </a:t>
            </a:r>
            <a:r>
              <a:rPr lang="ko-KR" altLang="en-US" sz="1100" b="1" dirty="0" smtClean="0">
                <a:solidFill>
                  <a:srgbClr val="3F3F48"/>
                </a:solidFill>
                <a:latin typeface="+mn-ea"/>
                <a:ea typeface="+mn-ea"/>
              </a:rPr>
              <a:t>구현</a:t>
            </a:r>
            <a:endParaRPr lang="en-US" altLang="ko-KR" sz="1100" b="1" dirty="0" smtClean="0">
              <a:solidFill>
                <a:srgbClr val="3F3F48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1000" dirty="0">
                <a:solidFill>
                  <a:srgbClr val="3F3F48"/>
                </a:solidFill>
                <a:latin typeface="+mn-ea"/>
              </a:rPr>
              <a:t> </a:t>
            </a:r>
            <a:r>
              <a:rPr lang="en-US" altLang="ko-KR" sz="1000" dirty="0" smtClean="0">
                <a:solidFill>
                  <a:srgbClr val="3F3F48"/>
                </a:solidFill>
                <a:latin typeface="+mn-ea"/>
              </a:rPr>
              <a:t> -</a:t>
            </a:r>
            <a:r>
              <a:rPr lang="ko-KR" altLang="en-US" sz="1000" dirty="0" smtClean="0">
                <a:solidFill>
                  <a:srgbClr val="3F3F48"/>
                </a:solidFill>
                <a:latin typeface="+mn-ea"/>
              </a:rPr>
              <a:t> 로그인</a:t>
            </a:r>
            <a:r>
              <a:rPr lang="en-US" altLang="ko-KR" sz="1000" dirty="0" smtClean="0">
                <a:solidFill>
                  <a:srgbClr val="3F3F48"/>
                </a:solidFill>
                <a:latin typeface="+mn-ea"/>
              </a:rPr>
              <a:t>, </a:t>
            </a:r>
            <a:r>
              <a:rPr lang="ko-KR" altLang="en-US" sz="1000" dirty="0" smtClean="0">
                <a:solidFill>
                  <a:srgbClr val="3F3F48"/>
                </a:solidFill>
                <a:latin typeface="+mn-ea"/>
              </a:rPr>
              <a:t>개인 </a:t>
            </a:r>
            <a:r>
              <a:rPr lang="ko-KR" altLang="en-US" sz="1000" smtClean="0">
                <a:solidFill>
                  <a:srgbClr val="3F3F48"/>
                </a:solidFill>
                <a:latin typeface="+mn-ea"/>
              </a:rPr>
              <a:t>포인트 </a:t>
            </a:r>
            <a:r>
              <a:rPr lang="ko-KR" altLang="en-US" sz="1000" smtClean="0">
                <a:solidFill>
                  <a:srgbClr val="3F3F48"/>
                </a:solidFill>
                <a:latin typeface="+mn-ea"/>
              </a:rPr>
              <a:t>조회</a:t>
            </a:r>
            <a:endParaRPr lang="ko-KR" altLang="en-US" sz="1000" dirty="0">
              <a:solidFill>
                <a:srgbClr val="3F3F48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2214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" y="115888"/>
            <a:ext cx="1952625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bg1"/>
                </a:solidFill>
                <a:latin typeface="+mn-ea"/>
                <a:ea typeface="+mn-ea"/>
              </a:rPr>
              <a:t>프로젝트 일정계획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9" t="26262" r="37734" b="10096"/>
          <a:stretch/>
        </p:blipFill>
        <p:spPr bwMode="auto">
          <a:xfrm>
            <a:off x="107504" y="836712"/>
            <a:ext cx="8886148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292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" y="115888"/>
            <a:ext cx="1211263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rgbClr val="FF3478"/>
                </a:solidFill>
                <a:latin typeface="+mn-ea"/>
                <a:ea typeface="+mn-ea"/>
              </a:rPr>
              <a:t>스토리보드</a:t>
            </a:r>
            <a:endParaRPr lang="ko-KR" altLang="en-US" sz="1050" b="1" dirty="0">
              <a:solidFill>
                <a:srgbClr val="FF3478"/>
              </a:solidFill>
              <a:latin typeface="+mn-ea"/>
              <a:ea typeface="+mn-ea"/>
            </a:endParaRPr>
          </a:p>
        </p:txBody>
      </p:sp>
      <p:sp>
        <p:nvSpPr>
          <p:cNvPr id="22537" name="제목 1"/>
          <p:cNvSpPr txBox="1">
            <a:spLocks/>
          </p:cNvSpPr>
          <p:nvPr/>
        </p:nvSpPr>
        <p:spPr bwMode="auto">
          <a:xfrm>
            <a:off x="20638" y="476250"/>
            <a:ext cx="54149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400" b="1" dirty="0">
                <a:solidFill>
                  <a:srgbClr val="A47160"/>
                </a:solidFill>
              </a:rPr>
              <a:t>메인</a:t>
            </a:r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" t="10099" r="2049" b="1390"/>
          <a:stretch/>
        </p:blipFill>
        <p:spPr bwMode="auto">
          <a:xfrm>
            <a:off x="329608" y="764704"/>
            <a:ext cx="8518907" cy="5742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329608" y="728439"/>
            <a:ext cx="8518907" cy="75634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200" b="1" dirty="0" smtClean="0">
              <a:solidFill>
                <a:srgbClr val="EBEBF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55576" y="5805264"/>
            <a:ext cx="7632848" cy="70186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200" b="1" dirty="0" smtClean="0">
              <a:solidFill>
                <a:srgbClr val="EBEBF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12360" y="382339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Header</a:t>
            </a:r>
            <a:r>
              <a:rPr lang="ko-KR" altLang="en-US" dirty="0" smtClean="0"/>
              <a:t>부분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362981" y="5949280"/>
            <a:ext cx="859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Footer</a:t>
            </a:r>
          </a:p>
          <a:p>
            <a:pPr algn="ctr"/>
            <a:r>
              <a:rPr lang="ko-KR" altLang="en-US" dirty="0" smtClean="0"/>
              <a:t>부</a:t>
            </a:r>
            <a:r>
              <a:rPr lang="ko-KR" altLang="en-US" dirty="0"/>
              <a:t>분</a:t>
            </a:r>
          </a:p>
        </p:txBody>
      </p:sp>
    </p:spTree>
    <p:extLst>
      <p:ext uri="{BB962C8B-B14F-4D97-AF65-F5344CB8AC3E}">
        <p14:creationId xmlns:p14="http://schemas.microsoft.com/office/powerpoint/2010/main" val="292185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208338" y="3294509"/>
            <a:ext cx="2587625" cy="504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208338" y="3288779"/>
            <a:ext cx="2727325" cy="1076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200" b="1" dirty="0">
                <a:solidFill>
                  <a:srgbClr val="3F3F48"/>
                </a:solidFill>
                <a:latin typeface="+mn-ea"/>
                <a:ea typeface="+mn-ea"/>
              </a:rPr>
              <a:t>경청해주셔서</a:t>
            </a:r>
            <a:endParaRPr lang="en-US" altLang="ko-KR" sz="3200" b="1" dirty="0">
              <a:solidFill>
                <a:srgbClr val="3F3F48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3200" b="1" dirty="0">
                <a:solidFill>
                  <a:schemeClr val="bg1"/>
                </a:solidFill>
                <a:latin typeface="+mn-ea"/>
                <a:ea typeface="+mn-ea"/>
              </a:rPr>
              <a:t>고맙습니다 </a:t>
            </a:r>
            <a:r>
              <a:rPr lang="en-US" altLang="ko-KR" sz="3200" b="1" dirty="0">
                <a:solidFill>
                  <a:schemeClr val="bg1"/>
                </a:solidFill>
                <a:latin typeface="+mn-ea"/>
                <a:ea typeface="+mn-ea"/>
                <a:sym typeface="Wingdings" pitchFamily="2" charset="2"/>
              </a:rPr>
              <a:t>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627784" y="1581760"/>
            <a:ext cx="3816424" cy="16312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100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3478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Jokerman" panose="04090605060D06020702" pitchFamily="82" charset="0"/>
              </a:rPr>
              <a:t>nolja</a:t>
            </a:r>
            <a:endParaRPr lang="en-US" altLang="ko-KR" sz="100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3478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Jokerman" panose="04090605060D060207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2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 fontAlgn="auto">
          <a:spcBef>
            <a:spcPts val="0"/>
          </a:spcBef>
          <a:spcAft>
            <a:spcPts val="0"/>
          </a:spcAft>
          <a:defRPr kumimoji="0" sz="1200" b="1" dirty="0" smtClean="0">
            <a:solidFill>
              <a:srgbClr val="EBEBF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>
              <a:lumMod val="75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301</Words>
  <Application>Microsoft Office PowerPoint</Application>
  <PresentationFormat>화면 슬라이드 쇼(4:3)</PresentationFormat>
  <Paragraphs>84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PowerPoint 프레젠테이션</vt:lpstr>
      <vt:lpstr>INDEX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303-22</dc:creator>
  <cp:lastModifiedBy>acorn</cp:lastModifiedBy>
  <cp:revision>121</cp:revision>
  <dcterms:created xsi:type="dcterms:W3CDTF">2016-06-03T02:04:30Z</dcterms:created>
  <dcterms:modified xsi:type="dcterms:W3CDTF">2017-04-07T06:23:49Z</dcterms:modified>
</cp:coreProperties>
</file>